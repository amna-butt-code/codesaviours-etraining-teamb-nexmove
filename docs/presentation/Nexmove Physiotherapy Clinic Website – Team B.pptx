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Figtree" pitchFamily="34" charset="0"/>
      <p:regular r:id="rId19"/>
      <p:bold r:id="rId20"/>
      <p:italic r:id="rId21"/>
      <p:boldItalic r:id="rId22"/>
    </p:embeddedFont>
    <p:embeddedFont>
      <p:font typeface="Instrument Serif" pitchFamily="18" charset="0"/>
      <p:regular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 Id="rId23" Type="http://schemas.openxmlformats.org/officeDocument/2006/relationships/font" Target="fonts/font5.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We are Team B from the Codesaviours E-Training full stack internship. Over two weeks we built a website for Nexmove Physiotherapy Clinic in Faisalabad: public information pages, online booking, patient accounts, an admin area and two AI-assisted features. The tagline at the bottom is the clinic’s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is Nexmove Physiotherapy Clinic in Faisalabad. Today patients arrange appointments through Instagram DM or by phone. Our goal was a full website that explains services and conditions, introduces the team and lets patients request appointments online. The timings shown are as the clinic published them and still need confirming with the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pieces make up the project. The public website covers the clinic’s information. Online booking uses live free slots. Accounts give patients a portal for their own appointments. The admin area is for clinic staff. The AI assistant and the pain assessment are the two AI-assisted features, both built with patient safety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talks to a Next.js client, which talks to an Express API, which stores data in MongoDB through Mongoose. Around that core: JWT and bcrypt for login, Zod for validating requests, Nodemailer for booking emails and the Gemini API for the assistant. Admin calls never go straight from the browser to the API; Next.js server routes add the login token from a cookie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journey a patient follows, as a guest or with an account. The important part is on the right: three layers stop two people booking the same slot. A short lock per therapist and day, a second validation of the slot on the server before saving, and a unique database index as the final safety net. New appointments start as Pending and a confirmation email is sent where email is configured.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roles: patient, therapist and admin. Patients can sign up, log in, book and see their own appointments. The therapist role exists in the data model and permissions, but its portal page is not built yet; we say that openly. Admin access is checked when the page loads and again on the server for each request. Passwords are hashed with bcryptjs and logins use JWT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AI-assisted features. The assistant uses the Gemini API but is tightly limited: it only answers from verified clinic facts, never gives medical advice, and urgent phrases such as chest pain skip the AI entirely and show emergency guidance. The pain assessment collects the painful areas, pain level, duration and red flags, then shows an urgent warning where needed and related topics. Both clearly say they are not a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area is only open to logged-in admins. Today it has a dashboard and a complete messages inbox. On the server there are already admin-only endpoints for services, therapists, packages, holidays, messages and review approval. The next step is building the screens that use them: appointments, services, therapists and review moderation.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healthcare site handles personal data, so we treated security as part of the design. Roles protect private routes, input is validated, and rate limits protect the public forms and the booking and password-reset endpoints. Secrets are kept in a local environment file and never committed. We also kept the content honest: anything the clinic has not confirmed, such as fees or an email address, stays as a clear placeholder.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honest status. The core is built: public pages, booking with live slots, accounts, the patient portal, the messages inbox and the assistant. In progress are the remaining admin screens, saving pain assessments to the database, the therapist portal and rescheduling. Some content can only come from the clinic: fees, session lengths, schedules, an official email and approved photos. Until then the site shows clear placeholders instead of invented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people, three areas. Zohaib built the public website and the booking interface. Amna led the team and owns the admin area, the handover and the submission. Hammad built the backend: authentication, the booking engine with its validation, and the appointment and service management on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The repository holds the source code, the README with setup steps, the project plan and the Postman collection. We are happy to take questions or show any part of the site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4F1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0A2350"/>
                </a:solidFill>
                <a:latin typeface="Instrument Serif" pitchFamily="34" charset="0"/>
                <a:ea typeface="Instrument Serif" pitchFamily="34" charset="-122"/>
                <a:cs typeface="Instrument Serif" pitchFamily="34" charset="-120"/>
              </a:defRPr>
            </a:lvl1pPr>
          </a:lstStyle>
          <a:p>
            <a:pPr algn="l" indent="0" marL="0">
              <a:lnSpc>
                <a:spcPct val="115000"/>
              </a:lnSpc>
              <a:buNone/>
            </a:pPr>
            <a:endParaRPr lang="en-US" sz="3200" dirty="0">
              <a:latin typeface="Instrument Serif" charset="0"/>
              <a:ea typeface="Instrument Serif" charset="0"/>
              <a:cs typeface="Instrument Serif" charset="0"/>
            </a:endParaRPr>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0A2350"/>
                </a:solidFill>
                <a:latin typeface="Figtree" pitchFamily="34" charset="0"/>
                <a:ea typeface="Figtree" pitchFamily="34" charset="-122"/>
                <a:cs typeface="Figtree" pitchFamily="34" charset="-120"/>
              </a:defRPr>
            </a:lvl1pPr>
          </a:lstStyle>
          <a:p>
            <a:pPr algn="l" indent="0" marL="0">
              <a:lnSpc>
                <a:spcPct val="140000"/>
              </a:lnSpc>
              <a:buNone/>
            </a:pPr>
            <a:endParaRPr lang="en-US" sz="1600" dirty="0">
              <a:latin typeface="Figtree" charset="0"/>
              <a:ea typeface="Figtree" charset="0"/>
              <a:cs typeface="Figtree"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4F1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0A2350"/>
                </a:solidFill>
                <a:latin typeface="Instrument Serif" pitchFamily="34" charset="0"/>
                <a:ea typeface="Instrument Serif" pitchFamily="34" charset="-122"/>
                <a:cs typeface="Instrument Serif" pitchFamily="34" charset="-120"/>
              </a:defRPr>
            </a:lvl1pPr>
          </a:lstStyle>
          <a:p>
            <a:pPr algn="l" indent="0" marL="0">
              <a:lnSpc>
                <a:spcPct val="115000"/>
              </a:lnSpc>
              <a:buNone/>
            </a:pPr>
            <a:endParaRPr lang="en-US" sz="3200" dirty="0">
              <a:latin typeface="Instrument Serif" charset="0"/>
              <a:ea typeface="Instrument Serif" charset="0"/>
              <a:cs typeface="Instrument Serif" charset="0"/>
            </a:endParaRPr>
          </a:p>
        </p:txBody>
      </p:sp>
      <p:sp>
        <p:nvSpPr>
          <p:cNvPr id="3" name="Text Placeholder 2"/>
          <p:cNvSpPr/>
          <p:nvPr>
            <p:ph idx="101" type="body"/>
          </p:nvPr>
        </p:nvSpPr>
        <p:spPr>
          <a:xfrm>
            <a:off x="812800" y="1854134"/>
            <a:ext cx="10566400" cy="4191066"/>
          </a:xfrm>
          <a:prstGeom prst="rect">
            <a:avLst/>
          </a:prstGeom>
          <a:noFill/>
          <a:ln/>
        </p:spPr>
        <p:txBody>
          <a:bodyPr wrap="square" lIns="0" tIns="0" rIns="0" bIns="0" rtlCol="0" anchor="t"/>
          <a:lstStyle>
            <a:lvl1pPr algn="l" indent="0" marL="0">
              <a:lnSpc>
                <a:spcPct val="140000"/>
              </a:lnSpc>
              <a:buNone/>
              <a:defRPr lang="en-US" sz="1600" dirty="0">
                <a:solidFill>
                  <a:srgbClr val="0A2350"/>
                </a:solidFill>
                <a:latin typeface="Figtree" pitchFamily="34" charset="0"/>
                <a:ea typeface="Figtree" pitchFamily="34" charset="-122"/>
                <a:cs typeface="Figtree" pitchFamily="34" charset="-120"/>
              </a:defRPr>
            </a:lvl1pPr>
          </a:lstStyle>
          <a:p>
            <a:pPr algn="l" indent="0" marL="0">
              <a:lnSpc>
                <a:spcPct val="140000"/>
              </a:lnSpc>
              <a:buNone/>
            </a:pPr>
            <a:endParaRPr lang="en-US" sz="1600" dirty="0">
              <a:latin typeface="Figtree" charset="0"/>
              <a:ea typeface="Figtree" charset="0"/>
              <a:cs typeface="Figtree"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350"/>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7493000" y="1016000"/>
            <a:ext cx="3886200" cy="3886200"/>
          </a:xfrm>
          <a:prstGeom prst="rect">
            <a:avLst/>
          </a:prstGeom>
        </p:spPr>
      </p:pic>
      <p:pic>
        <p:nvPicPr>
          <p:cNvPr id="3" name="Image 1" descr="ellipse">    </p:cNvPr>
          <p:cNvPicPr>
            <a:picLocks noChangeAspect="1"/>
          </p:cNvPicPr>
          <p:nvPr/>
        </p:nvPicPr>
        <p:blipFill>
          <a:blip r:embed="rId2"/>
          <a:srcRect l="0" r="0" t="0" b="0"/>
          <a:stretch/>
        </p:blipFill>
        <p:spPr>
          <a:xfrm>
            <a:off x="8890000" y="3429000"/>
            <a:ext cx="1905000" cy="1905000"/>
          </a:xfrm>
          <a:prstGeom prst="rect">
            <a:avLst/>
          </a:prstGeom>
        </p:spPr>
      </p:pic>
      <p:sp>
        <p:nvSpPr>
          <p:cNvPr id="4" name="Text 0"/>
          <p:cNvSpPr/>
          <p:nvPr/>
        </p:nvSpPr>
        <p:spPr>
          <a:xfrm>
            <a:off x="812800" y="1973659"/>
            <a:ext cx="65405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B8A7"/>
                </a:solidFill>
                <a:latin typeface="Figtree" pitchFamily="34" charset="0"/>
                <a:ea typeface="Figtree" pitchFamily="34" charset="-122"/>
                <a:cs typeface="Figtree" pitchFamily="34" charset="-120"/>
              </a:rPr>
              <a:t>CODESAVIOURS E-TRAINING · FULL STACK INTERNSHIP · TEAM B</a:t>
            </a:r>
            <a:endParaRPr lang="en-US" sz="1200" dirty="0">
              <a:latin typeface="Figtree" charset="0"/>
              <a:ea typeface="Figtree" charset="0"/>
              <a:cs typeface="Figtree" charset="0"/>
            </a:endParaRPr>
          </a:p>
        </p:txBody>
      </p:sp>
      <p:sp>
        <p:nvSpPr>
          <p:cNvPr id="5" name="Text 1"/>
          <p:cNvSpPr/>
          <p:nvPr>
            <p:ph type="title"/>
          </p:nvPr>
        </p:nvSpPr>
        <p:spPr>
          <a:xfrm>
            <a:off x="812800" y="2390180"/>
            <a:ext cx="6540500" cy="1366441"/>
          </a:xfrm>
          <a:prstGeom prst="rect">
            <a:avLst/>
          </a:prstGeom>
          <a:noFill/>
          <a:ln/>
        </p:spPr>
        <p:txBody>
          <a:bodyPr wrap="square" lIns="0" tIns="0" rIns="0" bIns="0" rtlCol="0" anchor="t">
            <a:normAutofit/>
          </a:bodyPr>
          <a:lstStyle/>
          <a:p>
            <a:pPr algn="l" indent="0" marL="0">
              <a:lnSpc>
                <a:spcPts val="5280"/>
              </a:lnSpc>
              <a:buNone/>
            </a:pPr>
            <a:r>
              <a:rPr lang="en-US" sz="4800" b="0" i="0" dirty="0">
                <a:solidFill>
                  <a:srgbClr val="F1F6F5"/>
                </a:solidFill>
                <a:latin typeface="Instrument Serif" pitchFamily="18" charset="0"/>
                <a:ea typeface="Instrument Serif" pitchFamily="18" charset="-122"/>
                <a:cs typeface="Instrument Serif" pitchFamily="18" charset="-120"/>
              </a:rPr>
              <a:t>Nexmove Physiotherapy Clinic Website</a:t>
            </a:r>
            <a:endParaRPr lang="en-US" sz="4800" dirty="0">
              <a:latin typeface="Instrument Serif" charset="0"/>
              <a:ea typeface="Instrument Serif" charset="0"/>
              <a:cs typeface="Instrument Serif" charset="0"/>
            </a:endParaRPr>
          </a:p>
        </p:txBody>
      </p:sp>
      <p:sp>
        <p:nvSpPr>
          <p:cNvPr id="6" name="Text 2"/>
          <p:cNvSpPr/>
          <p:nvPr/>
        </p:nvSpPr>
        <p:spPr>
          <a:xfrm>
            <a:off x="812800" y="3934420"/>
            <a:ext cx="65405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D8D5"/>
                </a:solidFill>
                <a:latin typeface="Figtree" pitchFamily="34" charset="0"/>
                <a:ea typeface="Figtree" pitchFamily="34" charset="-122"/>
                <a:cs typeface="Figtree" pitchFamily="34" charset="-120"/>
              </a:rPr>
              <a:t>A full-stack website with online booking, patient accounts, an admin area and AI-assisted features for a clinic in Faisalabad, Pakistan.</a:t>
            </a:r>
            <a:endParaRPr lang="en-US" sz="1500" dirty="0">
              <a:latin typeface="Figtree" charset="0"/>
              <a:ea typeface="Figtree" charset="0"/>
              <a:cs typeface="Figtree" charset="0"/>
            </a:endParaRPr>
          </a:p>
        </p:txBody>
      </p:sp>
      <p:sp>
        <p:nvSpPr>
          <p:cNvPr id="7" name="Text 3"/>
          <p:cNvSpPr/>
          <p:nvPr/>
        </p:nvSpPr>
        <p:spPr>
          <a:xfrm>
            <a:off x="812800" y="467102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8D5"/>
                </a:solidFill>
                <a:latin typeface="Figtree" pitchFamily="34" charset="0"/>
                <a:ea typeface="Figtree" pitchFamily="34" charset="-122"/>
                <a:cs typeface="Figtree" pitchFamily="34" charset="-120"/>
              </a:rPr>
              <a:t>19–31 October 2026</a:t>
            </a:r>
            <a:endParaRPr lang="en-US" sz="1200" dirty="0">
              <a:latin typeface="Figtree" charset="0"/>
              <a:ea typeface="Figtree" charset="0"/>
              <a:cs typeface="Figtree" charset="0"/>
            </a:endParaRPr>
          </a:p>
        </p:txBody>
      </p:sp>
      <p:sp>
        <p:nvSpPr>
          <p:cNvPr id="8" name="Text 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2FB8A7"/>
                </a:solidFill>
                <a:latin typeface="Figtree" pitchFamily="34" charset="0"/>
                <a:ea typeface="Figtree" pitchFamily="34" charset="-122"/>
                <a:cs typeface="Figtree" pitchFamily="34" charset="-120"/>
              </a:rPr>
              <a:t>Your Next Move Starts Here</a:t>
            </a:r>
            <a:endParaRPr lang="en-US" sz="1200" dirty="0">
              <a:latin typeface="Figtree" charset="0"/>
              <a:ea typeface="Figtree" charset="0"/>
              <a:cs typeface="Figtree"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B74"/>
                </a:solidFill>
                <a:latin typeface="Figtree" pitchFamily="34" charset="0"/>
                <a:ea typeface="Figtree" pitchFamily="34" charset="-122"/>
                <a:cs typeface="Figtree" pitchFamily="34" charset="-120"/>
              </a:rPr>
              <a:t>THE BRIEF</a:t>
            </a:r>
            <a:endParaRPr lang="en-US" sz="1200" dirty="0">
              <a:latin typeface="Figtree" charset="0"/>
              <a:ea typeface="Figtree" charset="0"/>
              <a:cs typeface="Figtree" charset="0"/>
            </a:endParaRPr>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A2350"/>
                </a:solidFill>
                <a:latin typeface="Instrument Serif" pitchFamily="18" charset="0"/>
                <a:ea typeface="Instrument Serif" pitchFamily="18" charset="-122"/>
                <a:cs typeface="Instrument Serif" pitchFamily="18" charset="-120"/>
              </a:rPr>
              <a:t>A clinic that needs to be found and booked online</a:t>
            </a:r>
            <a:endParaRPr lang="en-US" sz="3200" dirty="0">
              <a:latin typeface="Instrument Serif" charset="0"/>
              <a:ea typeface="Instrument Serif" charset="0"/>
              <a:cs typeface="Instrument Serif" charset="0"/>
            </a:endParaRPr>
          </a:p>
        </p:txBody>
      </p:sp>
      <p:sp>
        <p:nvSpPr>
          <p:cNvPr id="4" name="Shape 2"/>
          <p:cNvSpPr/>
          <p:nvPr/>
        </p:nvSpPr>
        <p:spPr>
          <a:xfrm>
            <a:off x="815975" y="1857309"/>
            <a:ext cx="3380317" cy="2260137"/>
          </a:xfrm>
          <a:prstGeom prst="roundRect">
            <a:avLst>
              <a:gd name="adj" fmla="val 5479"/>
            </a:avLst>
          </a:prstGeom>
          <a:solidFill>
            <a:srgbClr val="FBFDFC"/>
          </a:solidFill>
          <a:ln w="6350">
            <a:solidFill>
              <a:srgbClr val="D3E1DE"/>
            </a:solidFill>
            <a:prstDash val="solid"/>
          </a:ln>
        </p:spPr>
      </p:sp>
      <p:sp>
        <p:nvSpPr>
          <p:cNvPr id="5" name="Text 3"/>
          <p:cNvSpPr/>
          <p:nvPr/>
        </p:nvSpPr>
        <p:spPr>
          <a:xfrm>
            <a:off x="1071033" y="2112367"/>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6B74"/>
                </a:solidFill>
                <a:latin typeface="Figtree" pitchFamily="34" charset="0"/>
                <a:ea typeface="Figtree" pitchFamily="34" charset="-122"/>
                <a:cs typeface="Figtree" pitchFamily="34" charset="-120"/>
              </a:rPr>
              <a:t>The client</a:t>
            </a:r>
            <a:endParaRPr lang="en-US" sz="1200" dirty="0">
              <a:latin typeface="Figtree" charset="0"/>
              <a:ea typeface="Figtree" charset="0"/>
              <a:cs typeface="Figtree" charset="0"/>
            </a:endParaRPr>
          </a:p>
        </p:txBody>
      </p:sp>
      <p:sp>
        <p:nvSpPr>
          <p:cNvPr id="6" name="Text 4"/>
          <p:cNvSpPr/>
          <p:nvPr/>
        </p:nvSpPr>
        <p:spPr>
          <a:xfrm>
            <a:off x="1071033" y="2414588"/>
            <a:ext cx="2956306"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0A2350"/>
                </a:solidFill>
                <a:latin typeface="Instrument Serif" pitchFamily="18" charset="0"/>
                <a:ea typeface="Instrument Serif" pitchFamily="18" charset="-122"/>
                <a:cs typeface="Instrument Serif" pitchFamily="18" charset="-120"/>
              </a:rPr>
              <a:t>Nexmove Physiotherapy Clinic</a:t>
            </a:r>
            <a:endParaRPr lang="en-US" sz="2000" dirty="0">
              <a:latin typeface="Instrument Serif" charset="0"/>
              <a:ea typeface="Instrument Serif" charset="0"/>
              <a:cs typeface="Instrument Serif" charset="0"/>
            </a:endParaRPr>
          </a:p>
        </p:txBody>
      </p:sp>
      <p:sp>
        <p:nvSpPr>
          <p:cNvPr id="7" name="Text 5"/>
          <p:cNvSpPr/>
          <p:nvPr/>
        </p:nvSpPr>
        <p:spPr>
          <a:xfrm>
            <a:off x="1071033" y="2795588"/>
            <a:ext cx="2956306"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85F"/>
                </a:solidFill>
                <a:latin typeface="Figtree" pitchFamily="34" charset="0"/>
                <a:ea typeface="Figtree" pitchFamily="34" charset="-122"/>
                <a:cs typeface="Figtree" pitchFamily="34" charset="-120"/>
              </a:rPr>
              <a:t>A rehabilitation and wellness clinic in Faisalabad, treating back and neck pain, joint pain, sciatica and more.</a:t>
            </a:r>
            <a:endParaRPr lang="en-US" sz="1500" dirty="0">
              <a:latin typeface="Figtree" charset="0"/>
              <a:ea typeface="Figtree" charset="0"/>
              <a:cs typeface="Figtree" charset="0"/>
            </a:endParaRPr>
          </a:p>
        </p:txBody>
      </p:sp>
      <p:sp>
        <p:nvSpPr>
          <p:cNvPr id="8" name="Shape 6"/>
          <p:cNvSpPr/>
          <p:nvPr/>
        </p:nvSpPr>
        <p:spPr>
          <a:xfrm>
            <a:off x="4405842" y="1857309"/>
            <a:ext cx="3380317" cy="2260137"/>
          </a:xfrm>
          <a:prstGeom prst="roundRect">
            <a:avLst>
              <a:gd name="adj" fmla="val 5479"/>
            </a:avLst>
          </a:prstGeom>
          <a:solidFill>
            <a:srgbClr val="FBFDFC"/>
          </a:solidFill>
          <a:ln w="6350">
            <a:solidFill>
              <a:srgbClr val="D3E1DE"/>
            </a:solidFill>
            <a:prstDash val="solid"/>
          </a:ln>
        </p:spPr>
      </p:sp>
      <p:sp>
        <p:nvSpPr>
          <p:cNvPr id="9" name="Text 7"/>
          <p:cNvSpPr/>
          <p:nvPr/>
        </p:nvSpPr>
        <p:spPr>
          <a:xfrm>
            <a:off x="4660900" y="2112367"/>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6B74"/>
                </a:solidFill>
                <a:latin typeface="Figtree" pitchFamily="34" charset="0"/>
                <a:ea typeface="Figtree" pitchFamily="34" charset="-122"/>
                <a:cs typeface="Figtree" pitchFamily="34" charset="-120"/>
              </a:rPr>
              <a:t>Today</a:t>
            </a:r>
            <a:endParaRPr lang="en-US" sz="1200" dirty="0">
              <a:latin typeface="Figtree" charset="0"/>
              <a:ea typeface="Figtree" charset="0"/>
              <a:cs typeface="Figtree" charset="0"/>
            </a:endParaRPr>
          </a:p>
        </p:txBody>
      </p:sp>
      <p:sp>
        <p:nvSpPr>
          <p:cNvPr id="10" name="Text 8"/>
          <p:cNvSpPr/>
          <p:nvPr/>
        </p:nvSpPr>
        <p:spPr>
          <a:xfrm>
            <a:off x="4660900" y="2414588"/>
            <a:ext cx="2956306"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0A2350"/>
                </a:solidFill>
                <a:latin typeface="Instrument Serif" pitchFamily="18" charset="0"/>
                <a:ea typeface="Instrument Serif" pitchFamily="18" charset="-122"/>
                <a:cs typeface="Instrument Serif" pitchFamily="18" charset="-120"/>
              </a:rPr>
              <a:t>Booking by phone or DM</a:t>
            </a:r>
            <a:endParaRPr lang="en-US" sz="2000" dirty="0">
              <a:latin typeface="Instrument Serif" charset="0"/>
              <a:ea typeface="Instrument Serif" charset="0"/>
              <a:cs typeface="Instrument Serif" charset="0"/>
            </a:endParaRPr>
          </a:p>
        </p:txBody>
      </p:sp>
      <p:sp>
        <p:nvSpPr>
          <p:cNvPr id="11" name="Text 9"/>
          <p:cNvSpPr/>
          <p:nvPr/>
        </p:nvSpPr>
        <p:spPr>
          <a:xfrm>
            <a:off x="4660900" y="2795588"/>
            <a:ext cx="2956306"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85F"/>
                </a:solidFill>
                <a:latin typeface="Figtree" pitchFamily="34" charset="0"/>
                <a:ea typeface="Figtree" pitchFamily="34" charset="-122"/>
                <a:cs typeface="Figtree" pitchFamily="34" charset="-120"/>
              </a:rPr>
              <a:t>Appointments are arranged through Instagram DM or by calling the clinic.</a:t>
            </a:r>
            <a:endParaRPr lang="en-US" sz="1500" dirty="0">
              <a:latin typeface="Figtree" charset="0"/>
              <a:ea typeface="Figtree" charset="0"/>
              <a:cs typeface="Figtree" charset="0"/>
            </a:endParaRPr>
          </a:p>
        </p:txBody>
      </p:sp>
      <p:sp>
        <p:nvSpPr>
          <p:cNvPr id="12" name="Shape 10"/>
          <p:cNvSpPr/>
          <p:nvPr/>
        </p:nvSpPr>
        <p:spPr>
          <a:xfrm>
            <a:off x="7995709" y="1857309"/>
            <a:ext cx="3380317" cy="2260137"/>
          </a:xfrm>
          <a:prstGeom prst="roundRect">
            <a:avLst>
              <a:gd name="adj" fmla="val 5479"/>
            </a:avLst>
          </a:prstGeom>
          <a:solidFill>
            <a:srgbClr val="FBFDFC"/>
          </a:solidFill>
          <a:ln w="6350">
            <a:solidFill>
              <a:srgbClr val="D3E1DE"/>
            </a:solidFill>
            <a:prstDash val="solid"/>
          </a:ln>
        </p:spPr>
      </p:sp>
      <p:sp>
        <p:nvSpPr>
          <p:cNvPr id="13" name="Text 11"/>
          <p:cNvSpPr/>
          <p:nvPr/>
        </p:nvSpPr>
        <p:spPr>
          <a:xfrm>
            <a:off x="8250767" y="2112367"/>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6B74"/>
                </a:solidFill>
                <a:latin typeface="Figtree" pitchFamily="34" charset="0"/>
                <a:ea typeface="Figtree" pitchFamily="34" charset="-122"/>
                <a:cs typeface="Figtree" pitchFamily="34" charset="-120"/>
              </a:rPr>
              <a:t>Our goal</a:t>
            </a:r>
            <a:endParaRPr lang="en-US" sz="1200" dirty="0">
              <a:latin typeface="Figtree" charset="0"/>
              <a:ea typeface="Figtree" charset="0"/>
              <a:cs typeface="Figtree" charset="0"/>
            </a:endParaRPr>
          </a:p>
        </p:txBody>
      </p:sp>
      <p:sp>
        <p:nvSpPr>
          <p:cNvPr id="14" name="Text 12"/>
          <p:cNvSpPr/>
          <p:nvPr/>
        </p:nvSpPr>
        <p:spPr>
          <a:xfrm>
            <a:off x="8250767" y="2414588"/>
            <a:ext cx="2956306"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0A2350"/>
                </a:solidFill>
                <a:latin typeface="Instrument Serif" pitchFamily="18" charset="0"/>
                <a:ea typeface="Instrument Serif" pitchFamily="18" charset="-122"/>
                <a:cs typeface="Instrument Serif" pitchFamily="18" charset="-120"/>
              </a:rPr>
              <a:t>A complete clinic website</a:t>
            </a:r>
            <a:endParaRPr lang="en-US" sz="2000" dirty="0">
              <a:latin typeface="Instrument Serif" charset="0"/>
              <a:ea typeface="Instrument Serif" charset="0"/>
              <a:cs typeface="Instrument Serif" charset="0"/>
            </a:endParaRPr>
          </a:p>
        </p:txBody>
      </p:sp>
      <p:sp>
        <p:nvSpPr>
          <p:cNvPr id="15" name="Text 13"/>
          <p:cNvSpPr/>
          <p:nvPr/>
        </p:nvSpPr>
        <p:spPr>
          <a:xfrm>
            <a:off x="8250767" y="2795588"/>
            <a:ext cx="2956306"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85F"/>
                </a:solidFill>
                <a:latin typeface="Figtree" pitchFamily="34" charset="0"/>
                <a:ea typeface="Figtree" pitchFamily="34" charset="-122"/>
                <a:cs typeface="Figtree" pitchFamily="34" charset="-120"/>
              </a:rPr>
              <a:t>Explain the services and conditions, introduce the team and let patients request appointments online.</a:t>
            </a:r>
            <a:endParaRPr lang="en-US" sz="1500" dirty="0">
              <a:latin typeface="Figtree" charset="0"/>
              <a:ea typeface="Figtree" charset="0"/>
              <a:cs typeface="Figtree" charset="0"/>
            </a:endParaRPr>
          </a:p>
        </p:txBody>
      </p:sp>
      <p:sp>
        <p:nvSpPr>
          <p:cNvPr id="16" name="Text 14"/>
          <p:cNvSpPr/>
          <p:nvPr/>
        </p:nvSpPr>
        <p:spPr>
          <a:xfrm>
            <a:off x="812800" y="4425421"/>
            <a:ext cx="10566400" cy="571500"/>
          </a:xfrm>
          <a:prstGeom prst="roundRect">
            <a:avLst>
              <a:gd name="adj" fmla="val 17778"/>
            </a:avLst>
          </a:prstGeom>
          <a:solidFill>
            <a:srgbClr val="E4F1EF"/>
          </a:solidFill>
          <a:ln/>
        </p:spPr>
        <p:txBody>
          <a:bodyPr wrap="square" lIns="173442" tIns="122642" rIns="0" bIns="97242" rtlCol="0" anchor="t">
            <a:normAutofit/>
          </a:bodyPr>
          <a:lstStyle/>
          <a:p>
            <a:pPr algn="l" indent="0" marL="0">
              <a:lnSpc>
                <a:spcPts val="2100"/>
              </a:lnSpc>
              <a:buNone/>
            </a:pPr>
            <a:r>
              <a:rPr lang="en-US" sz="1500" dirty="0">
                <a:solidFill>
                  <a:srgbClr val="10222B"/>
                </a:solidFill>
                <a:latin typeface="Figtree" pitchFamily="34" charset="0"/>
                <a:ea typeface="Figtree" pitchFamily="34" charset="-122"/>
                <a:cs typeface="Figtree" pitchFamily="34" charset="-120"/>
              </a:rPr>
              <a:t>Published timings: </a:t>
            </a:r>
            <a:r>
              <a:rPr lang="en-US" sz="1500" b="1" dirty="0">
                <a:solidFill>
                  <a:srgbClr val="10222B"/>
                </a:solidFill>
                <a:latin typeface="Figtree" pitchFamily="34" charset="0"/>
                <a:ea typeface="Figtree" pitchFamily="34" charset="-122"/>
                <a:cs typeface="Figtree" pitchFamily="34" charset="-120"/>
              </a:rPr>
              <a:t>men 9 AM to 1 PM</a:t>
            </a:r>
            <a:r>
              <a:rPr lang="en-US" sz="1500" dirty="0">
                <a:solidFill>
                  <a:srgbClr val="10222B"/>
                </a:solidFill>
                <a:latin typeface="Figtree" pitchFamily="34" charset="0"/>
                <a:ea typeface="Figtree" pitchFamily="34" charset="-122"/>
                <a:cs typeface="Figtree" pitchFamily="34" charset="-120"/>
              </a:rPr>
              <a:t> · </a:t>
            </a:r>
            <a:r>
              <a:rPr lang="en-US" sz="1500" b="1" dirty="0">
                <a:solidFill>
                  <a:srgbClr val="10222B"/>
                </a:solidFill>
                <a:latin typeface="Figtree" pitchFamily="34" charset="0"/>
                <a:ea typeface="Figtree" pitchFamily="34" charset="-122"/>
                <a:cs typeface="Figtree" pitchFamily="34" charset="-120"/>
              </a:rPr>
              <a:t>women and children 1 PM to 10 PM</a:t>
            </a:r>
            <a:endParaRPr lang="en-US" sz="1500" dirty="0">
              <a:latin typeface="Figtree" charset="0"/>
              <a:ea typeface="Figtree" charset="0"/>
              <a:cs typeface="Figtree" charset="0"/>
            </a:endParaRPr>
          </a:p>
        </p:txBody>
      </p:sp>
      <p:sp>
        <p:nvSpPr>
          <p:cNvPr id="17" name="Text 1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Nexmove · Team B</a:t>
            </a:r>
            <a:endParaRPr lang="en-US" sz="1200" dirty="0">
              <a:latin typeface="Figtree" charset="0"/>
              <a:ea typeface="Figtree" charset="0"/>
              <a:cs typeface="Figtree" charset="0"/>
            </a:endParaRPr>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85F"/>
                </a:solidFill>
                <a:latin typeface="Figtree" pitchFamily="34" charset="0"/>
                <a:ea typeface="Figtree" pitchFamily="34" charset="-122"/>
                <a:cs typeface="Figtree" pitchFamily="34" charset="-120"/>
              </a:rPr>
              <a:t>02</a:t>
            </a:r>
            <a:endParaRPr lang="en-US" sz="1200" dirty="0">
              <a:latin typeface="Figtree" charset="0"/>
              <a:ea typeface="Figtree" charset="0"/>
              <a:cs typeface="Figtree"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4F1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B74"/>
                </a:solidFill>
                <a:latin typeface="Figtree" pitchFamily="34" charset="0"/>
                <a:ea typeface="Figtree" pitchFamily="34" charset="-122"/>
                <a:cs typeface="Figtree" pitchFamily="34" charset="-120"/>
              </a:rPr>
              <a:t>SCOPE</a:t>
            </a:r>
            <a:endParaRPr lang="en-US" sz="1200" dirty="0">
              <a:latin typeface="Figtree" charset="0"/>
              <a:ea typeface="Figtree" charset="0"/>
              <a:cs typeface="Figtree" charset="0"/>
            </a:endParaRPr>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A2350"/>
                </a:solidFill>
                <a:latin typeface="Instrument Serif" pitchFamily="18" charset="0"/>
                <a:ea typeface="Instrument Serif" pitchFamily="18" charset="-122"/>
                <a:cs typeface="Instrument Serif" pitchFamily="18" charset="-120"/>
              </a:rPr>
              <a:t>What we built</a:t>
            </a:r>
            <a:endParaRPr lang="en-US" sz="3200" dirty="0">
              <a:latin typeface="Instrument Serif" charset="0"/>
              <a:ea typeface="Instrument Serif" charset="0"/>
              <a:cs typeface="Instrument Serif" charset="0"/>
            </a:endParaRPr>
          </a:p>
        </p:txBody>
      </p:sp>
      <p:sp>
        <p:nvSpPr>
          <p:cNvPr id="4" name="Shape 2"/>
          <p:cNvSpPr/>
          <p:nvPr/>
        </p:nvSpPr>
        <p:spPr>
          <a:xfrm>
            <a:off x="815975" y="1806510"/>
            <a:ext cx="3414183" cy="1546357"/>
          </a:xfrm>
          <a:prstGeom prst="roundRect">
            <a:avLst>
              <a:gd name="adj" fmla="val 8008"/>
            </a:avLst>
          </a:prstGeom>
          <a:solidFill>
            <a:srgbClr val="FBFDFC"/>
          </a:solidFill>
          <a:ln w="6350">
            <a:solidFill>
              <a:srgbClr val="CFE0DC"/>
            </a:solidFill>
            <a:prstDash val="solid"/>
          </a:ln>
        </p:spPr>
      </p:sp>
      <p:pic>
        <p:nvPicPr>
          <p:cNvPr id="5" name="Image 0" descr="Globe">    </p:cNvPr>
          <p:cNvPicPr>
            <a:picLocks noChangeAspect="1"/>
          </p:cNvPicPr>
          <p:nvPr/>
        </p:nvPicPr>
        <p:blipFill>
          <a:blip r:embed="rId1"/>
          <a:srcRect l="0" r="0" t="0" b="0"/>
          <a:stretch/>
        </p:blipFill>
        <p:spPr>
          <a:xfrm>
            <a:off x="1020233" y="2010767"/>
            <a:ext cx="254000" cy="254000"/>
          </a:xfrm>
          <a:prstGeom prst="rect">
            <a:avLst/>
          </a:prstGeom>
        </p:spPr>
      </p:pic>
      <p:sp>
        <p:nvSpPr>
          <p:cNvPr id="6" name="Text 3"/>
          <p:cNvSpPr/>
          <p:nvPr/>
        </p:nvSpPr>
        <p:spPr>
          <a:xfrm>
            <a:off x="1020233" y="2340967"/>
            <a:ext cx="3095837"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0A2350"/>
                </a:solidFill>
                <a:latin typeface="Instrument Serif" pitchFamily="18" charset="0"/>
                <a:ea typeface="Instrument Serif" pitchFamily="18" charset="-122"/>
                <a:cs typeface="Instrument Serif" pitchFamily="18" charset="-120"/>
              </a:rPr>
              <a:t>Public website</a:t>
            </a:r>
            <a:endParaRPr lang="en-US" sz="2000" dirty="0">
              <a:latin typeface="Instrument Serif" charset="0"/>
              <a:ea typeface="Instrument Serif" charset="0"/>
              <a:cs typeface="Instrument Serif" charset="0"/>
            </a:endParaRPr>
          </a:p>
        </p:txBody>
      </p:sp>
      <p:sp>
        <p:nvSpPr>
          <p:cNvPr id="7" name="Text 4"/>
          <p:cNvSpPr/>
          <p:nvPr/>
        </p:nvSpPr>
        <p:spPr>
          <a:xfrm>
            <a:off x="1020233" y="2721967"/>
            <a:ext cx="30958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Home, about, services, conditions, team, packages, blog, FAQ and contact pages.</a:t>
            </a:r>
            <a:endParaRPr lang="en-US" sz="1200" dirty="0">
              <a:latin typeface="Figtree" charset="0"/>
              <a:ea typeface="Figtree" charset="0"/>
              <a:cs typeface="Figtree" charset="0"/>
            </a:endParaRPr>
          </a:p>
        </p:txBody>
      </p:sp>
      <p:sp>
        <p:nvSpPr>
          <p:cNvPr id="8" name="Shape 5"/>
          <p:cNvSpPr/>
          <p:nvPr/>
        </p:nvSpPr>
        <p:spPr>
          <a:xfrm>
            <a:off x="4388908" y="1806510"/>
            <a:ext cx="3414183" cy="1546357"/>
          </a:xfrm>
          <a:prstGeom prst="roundRect">
            <a:avLst>
              <a:gd name="adj" fmla="val 8008"/>
            </a:avLst>
          </a:prstGeom>
          <a:solidFill>
            <a:srgbClr val="FBFDFC"/>
          </a:solidFill>
          <a:ln w="6350">
            <a:solidFill>
              <a:srgbClr val="CFE0DC"/>
            </a:solidFill>
            <a:prstDash val="solid"/>
          </a:ln>
        </p:spPr>
      </p:sp>
      <p:pic>
        <p:nvPicPr>
          <p:cNvPr id="9" name="Image 1" descr="Clock">    </p:cNvPr>
          <p:cNvPicPr>
            <a:picLocks noChangeAspect="1"/>
          </p:cNvPicPr>
          <p:nvPr/>
        </p:nvPicPr>
        <p:blipFill>
          <a:blip r:embed="rId2"/>
          <a:srcRect l="0" r="0" t="0" b="0"/>
          <a:stretch/>
        </p:blipFill>
        <p:spPr>
          <a:xfrm>
            <a:off x="4593167" y="2010767"/>
            <a:ext cx="254000" cy="254000"/>
          </a:xfrm>
          <a:prstGeom prst="rect">
            <a:avLst/>
          </a:prstGeom>
        </p:spPr>
      </p:pic>
      <p:sp>
        <p:nvSpPr>
          <p:cNvPr id="10" name="Text 6"/>
          <p:cNvSpPr/>
          <p:nvPr/>
        </p:nvSpPr>
        <p:spPr>
          <a:xfrm>
            <a:off x="4593167" y="2340967"/>
            <a:ext cx="3095837"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0A2350"/>
                </a:solidFill>
                <a:latin typeface="Instrument Serif" pitchFamily="18" charset="0"/>
                <a:ea typeface="Instrument Serif" pitchFamily="18" charset="-122"/>
                <a:cs typeface="Instrument Serif" pitchFamily="18" charset="-120"/>
              </a:rPr>
              <a:t>Online booking</a:t>
            </a:r>
            <a:endParaRPr lang="en-US" sz="2000" dirty="0">
              <a:latin typeface="Instrument Serif" charset="0"/>
              <a:ea typeface="Instrument Serif" charset="0"/>
              <a:cs typeface="Instrument Serif" charset="0"/>
            </a:endParaRPr>
          </a:p>
        </p:txBody>
      </p:sp>
      <p:sp>
        <p:nvSpPr>
          <p:cNvPr id="11" name="Text 7"/>
          <p:cNvSpPr/>
          <p:nvPr/>
        </p:nvSpPr>
        <p:spPr>
          <a:xfrm>
            <a:off x="4593167" y="2721967"/>
            <a:ext cx="30958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Pick a service, therapist and date, then choose from live free time slots.</a:t>
            </a:r>
            <a:endParaRPr lang="en-US" sz="1200" dirty="0">
              <a:latin typeface="Figtree" charset="0"/>
              <a:ea typeface="Figtree" charset="0"/>
              <a:cs typeface="Figtree" charset="0"/>
            </a:endParaRPr>
          </a:p>
        </p:txBody>
      </p:sp>
      <p:sp>
        <p:nvSpPr>
          <p:cNvPr id="12" name="Shape 8"/>
          <p:cNvSpPr/>
          <p:nvPr/>
        </p:nvSpPr>
        <p:spPr>
          <a:xfrm>
            <a:off x="7961842" y="1806510"/>
            <a:ext cx="3414183" cy="1546357"/>
          </a:xfrm>
          <a:prstGeom prst="roundRect">
            <a:avLst>
              <a:gd name="adj" fmla="val 8008"/>
            </a:avLst>
          </a:prstGeom>
          <a:solidFill>
            <a:srgbClr val="FBFDFC"/>
          </a:solidFill>
          <a:ln w="6350">
            <a:solidFill>
              <a:srgbClr val="CFE0DC"/>
            </a:solidFill>
            <a:prstDash val="solid"/>
          </a:ln>
        </p:spPr>
      </p:sp>
      <p:pic>
        <p:nvPicPr>
          <p:cNvPr id="13" name="Image 2" descr="Users">    </p:cNvPr>
          <p:cNvPicPr>
            <a:picLocks noChangeAspect="1"/>
          </p:cNvPicPr>
          <p:nvPr/>
        </p:nvPicPr>
        <p:blipFill>
          <a:blip r:embed="rId3"/>
          <a:srcRect l="0" r="0" t="0" b="0"/>
          <a:stretch/>
        </p:blipFill>
        <p:spPr>
          <a:xfrm>
            <a:off x="8166100" y="2010767"/>
            <a:ext cx="254000" cy="254000"/>
          </a:xfrm>
          <a:prstGeom prst="rect">
            <a:avLst/>
          </a:prstGeom>
        </p:spPr>
      </p:pic>
      <p:sp>
        <p:nvSpPr>
          <p:cNvPr id="14" name="Text 9"/>
          <p:cNvSpPr/>
          <p:nvPr/>
        </p:nvSpPr>
        <p:spPr>
          <a:xfrm>
            <a:off x="8166100" y="2340967"/>
            <a:ext cx="3095837"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0A2350"/>
                </a:solidFill>
                <a:latin typeface="Instrument Serif" pitchFamily="18" charset="0"/>
                <a:ea typeface="Instrument Serif" pitchFamily="18" charset="-122"/>
                <a:cs typeface="Instrument Serif" pitchFamily="18" charset="-120"/>
              </a:rPr>
              <a:t>Accounts and portal</a:t>
            </a:r>
            <a:endParaRPr lang="en-US" sz="2000" dirty="0">
              <a:latin typeface="Instrument Serif" charset="0"/>
              <a:ea typeface="Instrument Serif" charset="0"/>
              <a:cs typeface="Instrument Serif" charset="0"/>
            </a:endParaRPr>
          </a:p>
        </p:txBody>
      </p:sp>
      <p:sp>
        <p:nvSpPr>
          <p:cNvPr id="15" name="Text 10"/>
          <p:cNvSpPr/>
          <p:nvPr/>
        </p:nvSpPr>
        <p:spPr>
          <a:xfrm>
            <a:off x="8166100" y="2721967"/>
            <a:ext cx="30958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Sign up, log in and see your own appointments in the patient portal.</a:t>
            </a:r>
            <a:endParaRPr lang="en-US" sz="1200" dirty="0">
              <a:latin typeface="Figtree" charset="0"/>
              <a:ea typeface="Figtree" charset="0"/>
              <a:cs typeface="Figtree" charset="0"/>
            </a:endParaRPr>
          </a:p>
        </p:txBody>
      </p:sp>
      <p:sp>
        <p:nvSpPr>
          <p:cNvPr id="16" name="Shape 11"/>
          <p:cNvSpPr/>
          <p:nvPr/>
        </p:nvSpPr>
        <p:spPr>
          <a:xfrm>
            <a:off x="815975" y="3511617"/>
            <a:ext cx="3414183" cy="1759678"/>
          </a:xfrm>
          <a:prstGeom prst="roundRect">
            <a:avLst>
              <a:gd name="adj" fmla="val 7037"/>
            </a:avLst>
          </a:prstGeom>
          <a:solidFill>
            <a:srgbClr val="FBFDFC"/>
          </a:solidFill>
          <a:ln w="6350">
            <a:solidFill>
              <a:srgbClr val="CFE0DC"/>
            </a:solidFill>
            <a:prstDash val="solid"/>
          </a:ln>
        </p:spPr>
      </p:sp>
      <p:pic>
        <p:nvPicPr>
          <p:cNvPr id="17" name="Image 3" descr="Settings">    </p:cNvPr>
          <p:cNvPicPr>
            <a:picLocks noChangeAspect="1"/>
          </p:cNvPicPr>
          <p:nvPr/>
        </p:nvPicPr>
        <p:blipFill>
          <a:blip r:embed="rId4"/>
          <a:srcRect l="0" r="0" t="0" b="0"/>
          <a:stretch/>
        </p:blipFill>
        <p:spPr>
          <a:xfrm>
            <a:off x="1020233" y="3715876"/>
            <a:ext cx="254000" cy="254000"/>
          </a:xfrm>
          <a:prstGeom prst="rect">
            <a:avLst/>
          </a:prstGeom>
        </p:spPr>
      </p:pic>
      <p:sp>
        <p:nvSpPr>
          <p:cNvPr id="18" name="Text 12"/>
          <p:cNvSpPr/>
          <p:nvPr/>
        </p:nvSpPr>
        <p:spPr>
          <a:xfrm>
            <a:off x="1020233" y="4046076"/>
            <a:ext cx="3095837"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0A2350"/>
                </a:solidFill>
                <a:latin typeface="Instrument Serif" pitchFamily="18" charset="0"/>
                <a:ea typeface="Instrument Serif" pitchFamily="18" charset="-122"/>
                <a:cs typeface="Instrument Serif" pitchFamily="18" charset="-120"/>
              </a:rPr>
              <a:t>Admin area</a:t>
            </a:r>
            <a:endParaRPr lang="en-US" sz="2000" dirty="0">
              <a:latin typeface="Instrument Serif" charset="0"/>
              <a:ea typeface="Instrument Serif" charset="0"/>
              <a:cs typeface="Instrument Serif" charset="0"/>
            </a:endParaRPr>
          </a:p>
        </p:txBody>
      </p:sp>
      <p:sp>
        <p:nvSpPr>
          <p:cNvPr id="19" name="Text 13"/>
          <p:cNvSpPr/>
          <p:nvPr/>
        </p:nvSpPr>
        <p:spPr>
          <a:xfrm>
            <a:off x="1020233" y="4427076"/>
            <a:ext cx="30958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A protected area for clinic staff with a dashboard and a messages inbox.</a:t>
            </a:r>
            <a:endParaRPr lang="en-US" sz="1200" dirty="0">
              <a:latin typeface="Figtree" charset="0"/>
              <a:ea typeface="Figtree" charset="0"/>
              <a:cs typeface="Figtree" charset="0"/>
            </a:endParaRPr>
          </a:p>
        </p:txBody>
      </p:sp>
      <p:sp>
        <p:nvSpPr>
          <p:cNvPr id="20" name="Shape 14"/>
          <p:cNvSpPr/>
          <p:nvPr/>
        </p:nvSpPr>
        <p:spPr>
          <a:xfrm>
            <a:off x="4388908" y="3511617"/>
            <a:ext cx="3414183" cy="1759678"/>
          </a:xfrm>
          <a:prstGeom prst="roundRect">
            <a:avLst>
              <a:gd name="adj" fmla="val 7037"/>
            </a:avLst>
          </a:prstGeom>
          <a:solidFill>
            <a:srgbClr val="FBFDFC"/>
          </a:solidFill>
          <a:ln w="6350">
            <a:solidFill>
              <a:srgbClr val="CFE0DC"/>
            </a:solidFill>
            <a:prstDash val="solid"/>
          </a:ln>
        </p:spPr>
      </p:sp>
      <p:pic>
        <p:nvPicPr>
          <p:cNvPr id="21" name="Image 4" descr="Chat">    </p:cNvPr>
          <p:cNvPicPr>
            <a:picLocks noChangeAspect="1"/>
          </p:cNvPicPr>
          <p:nvPr/>
        </p:nvPicPr>
        <p:blipFill>
          <a:blip r:embed="rId5"/>
          <a:srcRect l="0" r="0" t="0" b="0"/>
          <a:stretch/>
        </p:blipFill>
        <p:spPr>
          <a:xfrm>
            <a:off x="4593167" y="3715876"/>
            <a:ext cx="254000" cy="254000"/>
          </a:xfrm>
          <a:prstGeom prst="rect">
            <a:avLst/>
          </a:prstGeom>
        </p:spPr>
      </p:pic>
      <p:sp>
        <p:nvSpPr>
          <p:cNvPr id="22" name="Text 15"/>
          <p:cNvSpPr/>
          <p:nvPr/>
        </p:nvSpPr>
        <p:spPr>
          <a:xfrm>
            <a:off x="4593167" y="4046076"/>
            <a:ext cx="3095837"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0A2350"/>
                </a:solidFill>
                <a:latin typeface="Instrument Serif" pitchFamily="18" charset="0"/>
                <a:ea typeface="Instrument Serif" pitchFamily="18" charset="-122"/>
                <a:cs typeface="Instrument Serif" pitchFamily="18" charset="-120"/>
              </a:rPr>
              <a:t>AI assistant</a:t>
            </a:r>
            <a:endParaRPr lang="en-US" sz="2000" dirty="0">
              <a:latin typeface="Instrument Serif" charset="0"/>
              <a:ea typeface="Instrument Serif" charset="0"/>
              <a:cs typeface="Instrument Serif" charset="0"/>
            </a:endParaRPr>
          </a:p>
        </p:txBody>
      </p:sp>
      <p:sp>
        <p:nvSpPr>
          <p:cNvPr id="23" name="Text 16"/>
          <p:cNvSpPr/>
          <p:nvPr/>
        </p:nvSpPr>
        <p:spPr>
          <a:xfrm>
            <a:off x="4593167" y="4427076"/>
            <a:ext cx="309583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A chat assistant that answers questions about the clinic and never gives medical advice.</a:t>
            </a:r>
            <a:endParaRPr lang="en-US" sz="1200" dirty="0">
              <a:latin typeface="Figtree" charset="0"/>
              <a:ea typeface="Figtree" charset="0"/>
              <a:cs typeface="Figtree" charset="0"/>
            </a:endParaRPr>
          </a:p>
        </p:txBody>
      </p:sp>
      <p:sp>
        <p:nvSpPr>
          <p:cNvPr id="24" name="Shape 17"/>
          <p:cNvSpPr/>
          <p:nvPr/>
        </p:nvSpPr>
        <p:spPr>
          <a:xfrm>
            <a:off x="7961842" y="3511617"/>
            <a:ext cx="3414183" cy="1759678"/>
          </a:xfrm>
          <a:prstGeom prst="roundRect">
            <a:avLst>
              <a:gd name="adj" fmla="val 7037"/>
            </a:avLst>
          </a:prstGeom>
          <a:solidFill>
            <a:srgbClr val="FBFDFC"/>
          </a:solidFill>
          <a:ln w="6350">
            <a:solidFill>
              <a:srgbClr val="CFE0DC"/>
            </a:solidFill>
            <a:prstDash val="solid"/>
          </a:ln>
        </p:spPr>
      </p:sp>
      <p:pic>
        <p:nvPicPr>
          <p:cNvPr id="25" name="Image 5" descr="Activity">    </p:cNvPr>
          <p:cNvPicPr>
            <a:picLocks noChangeAspect="1"/>
          </p:cNvPicPr>
          <p:nvPr/>
        </p:nvPicPr>
        <p:blipFill>
          <a:blip r:embed="rId6"/>
          <a:srcRect l="0" r="0" t="0" b="0"/>
          <a:stretch/>
        </p:blipFill>
        <p:spPr>
          <a:xfrm>
            <a:off x="8166100" y="3715876"/>
            <a:ext cx="254000" cy="254000"/>
          </a:xfrm>
          <a:prstGeom prst="rect">
            <a:avLst/>
          </a:prstGeom>
        </p:spPr>
      </p:pic>
      <p:sp>
        <p:nvSpPr>
          <p:cNvPr id="26" name="Text 18"/>
          <p:cNvSpPr/>
          <p:nvPr/>
        </p:nvSpPr>
        <p:spPr>
          <a:xfrm>
            <a:off x="8166100" y="4046076"/>
            <a:ext cx="3095837"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0A2350"/>
                </a:solidFill>
                <a:latin typeface="Instrument Serif" pitchFamily="18" charset="0"/>
                <a:ea typeface="Instrument Serif" pitchFamily="18" charset="-122"/>
                <a:cs typeface="Instrument Serif" pitchFamily="18" charset="-120"/>
              </a:rPr>
              <a:t>Pain assessment</a:t>
            </a:r>
            <a:endParaRPr lang="en-US" sz="2000" dirty="0">
              <a:latin typeface="Instrument Serif" charset="0"/>
              <a:ea typeface="Instrument Serif" charset="0"/>
              <a:cs typeface="Instrument Serif" charset="0"/>
            </a:endParaRPr>
          </a:p>
        </p:txBody>
      </p:sp>
      <p:sp>
        <p:nvSpPr>
          <p:cNvPr id="27" name="Text 19"/>
          <p:cNvSpPr/>
          <p:nvPr/>
        </p:nvSpPr>
        <p:spPr>
          <a:xfrm>
            <a:off x="8166100" y="4427076"/>
            <a:ext cx="30958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A guided body-map form that flags urgent symptoms and points to related topics.</a:t>
            </a:r>
            <a:endParaRPr lang="en-US" sz="1200" dirty="0">
              <a:latin typeface="Figtree" charset="0"/>
              <a:ea typeface="Figtree" charset="0"/>
              <a:cs typeface="Figtree" charset="0"/>
            </a:endParaRPr>
          </a:p>
        </p:txBody>
      </p:sp>
      <p:sp>
        <p:nvSpPr>
          <p:cNvPr id="28" name="Text 2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Nexmove · Team B</a:t>
            </a:r>
            <a:endParaRPr lang="en-US" sz="1200" dirty="0">
              <a:latin typeface="Figtree" charset="0"/>
              <a:ea typeface="Figtree" charset="0"/>
              <a:cs typeface="Figtree" charset="0"/>
            </a:endParaRPr>
          </a:p>
        </p:txBody>
      </p:sp>
      <p:sp>
        <p:nvSpPr>
          <p:cNvPr id="29"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85F"/>
                </a:solidFill>
                <a:latin typeface="Figtree" pitchFamily="34" charset="0"/>
                <a:ea typeface="Figtree" pitchFamily="34" charset="-122"/>
                <a:cs typeface="Figtree" pitchFamily="34" charset="-120"/>
              </a:rPr>
              <a:t>03</a:t>
            </a:r>
            <a:endParaRPr lang="en-US" sz="1200" dirty="0">
              <a:latin typeface="Figtree" charset="0"/>
              <a:ea typeface="Figtree" charset="0"/>
              <a:cs typeface="Figtree"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B74"/>
                </a:solidFill>
                <a:latin typeface="Figtree" pitchFamily="34" charset="0"/>
                <a:ea typeface="Figtree" pitchFamily="34" charset="-122"/>
                <a:cs typeface="Figtree" pitchFamily="34" charset="-120"/>
              </a:rPr>
              <a:t>ARCHITECTURE</a:t>
            </a:r>
            <a:endParaRPr lang="en-US" sz="1200" dirty="0">
              <a:latin typeface="Figtree" charset="0"/>
              <a:ea typeface="Figtree" charset="0"/>
              <a:cs typeface="Figtree" charset="0"/>
            </a:endParaRPr>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A2350"/>
                </a:solidFill>
                <a:latin typeface="Instrument Serif" pitchFamily="18" charset="0"/>
                <a:ea typeface="Instrument Serif" pitchFamily="18" charset="-122"/>
                <a:cs typeface="Instrument Serif" pitchFamily="18" charset="-120"/>
              </a:rPr>
              <a:t>How the system fits together</a:t>
            </a:r>
            <a:endParaRPr lang="en-US" sz="3200" dirty="0">
              <a:latin typeface="Instrument Serif" charset="0"/>
              <a:ea typeface="Instrument Serif" charset="0"/>
              <a:cs typeface="Instrument Serif" charset="0"/>
            </a:endParaRPr>
          </a:p>
        </p:txBody>
      </p:sp>
      <p:sp>
        <p:nvSpPr>
          <p:cNvPr id="4" name="Shape 2"/>
          <p:cNvSpPr/>
          <p:nvPr/>
        </p:nvSpPr>
        <p:spPr>
          <a:xfrm>
            <a:off x="815975" y="1831910"/>
            <a:ext cx="2279650" cy="926637"/>
          </a:xfrm>
          <a:prstGeom prst="roundRect">
            <a:avLst>
              <a:gd name="adj" fmla="val 13363"/>
            </a:avLst>
          </a:prstGeom>
          <a:solidFill>
            <a:srgbClr val="FBFDFC"/>
          </a:solidFill>
          <a:ln w="6350">
            <a:solidFill>
              <a:srgbClr val="D3E1DE"/>
            </a:solidFill>
            <a:prstDash val="solid"/>
          </a:ln>
        </p:spPr>
      </p:sp>
      <p:sp>
        <p:nvSpPr>
          <p:cNvPr id="5" name="Text 3"/>
          <p:cNvSpPr/>
          <p:nvPr/>
        </p:nvSpPr>
        <p:spPr>
          <a:xfrm>
            <a:off x="994833" y="2010767"/>
            <a:ext cx="1979591"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0A2350"/>
                </a:solidFill>
                <a:latin typeface="Instrument Serif" pitchFamily="18" charset="0"/>
                <a:ea typeface="Instrument Serif" pitchFamily="18" charset="-122"/>
                <a:cs typeface="Instrument Serif" pitchFamily="18" charset="-120"/>
              </a:rPr>
              <a:t>Browser</a:t>
            </a:r>
            <a:endParaRPr lang="en-US" sz="2000" dirty="0">
              <a:latin typeface="Instrument Serif" charset="0"/>
              <a:ea typeface="Instrument Serif" charset="0"/>
              <a:cs typeface="Instrument Serif" charset="0"/>
            </a:endParaRPr>
          </a:p>
        </p:txBody>
      </p:sp>
      <p:sp>
        <p:nvSpPr>
          <p:cNvPr id="6" name="Text 4"/>
          <p:cNvSpPr/>
          <p:nvPr/>
        </p:nvSpPr>
        <p:spPr>
          <a:xfrm>
            <a:off x="994833" y="2366367"/>
            <a:ext cx="20976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Patients, guests and admins</a:t>
            </a:r>
            <a:endParaRPr lang="en-US" sz="1200" dirty="0">
              <a:latin typeface="Figtree" charset="0"/>
              <a:ea typeface="Figtree" charset="0"/>
              <a:cs typeface="Figtree" charset="0"/>
            </a:endParaRPr>
          </a:p>
        </p:txBody>
      </p:sp>
      <p:pic>
        <p:nvPicPr>
          <p:cNvPr id="7" name="Image 0" descr="arrow-right">    </p:cNvPr>
          <p:cNvPicPr>
            <a:picLocks noChangeAspect="1"/>
          </p:cNvPicPr>
          <p:nvPr/>
        </p:nvPicPr>
        <p:blipFill>
          <a:blip r:embed="rId1"/>
          <a:srcRect l="0" r="0" t="0" b="0"/>
          <a:stretch/>
        </p:blipFill>
        <p:spPr>
          <a:xfrm>
            <a:off x="3132667" y="2168195"/>
            <a:ext cx="406400" cy="254000"/>
          </a:xfrm>
          <a:prstGeom prst="rect">
            <a:avLst/>
          </a:prstGeom>
        </p:spPr>
      </p:pic>
      <p:sp>
        <p:nvSpPr>
          <p:cNvPr id="8" name="Shape 5"/>
          <p:cNvSpPr/>
          <p:nvPr/>
        </p:nvSpPr>
        <p:spPr>
          <a:xfrm>
            <a:off x="3576108" y="1831910"/>
            <a:ext cx="2279650" cy="926637"/>
          </a:xfrm>
          <a:prstGeom prst="roundRect">
            <a:avLst>
              <a:gd name="adj" fmla="val 13363"/>
            </a:avLst>
          </a:prstGeom>
          <a:solidFill>
            <a:srgbClr val="FBFDFC"/>
          </a:solidFill>
          <a:ln w="6350">
            <a:solidFill>
              <a:srgbClr val="D3E1DE"/>
            </a:solidFill>
            <a:prstDash val="solid"/>
          </a:ln>
        </p:spPr>
      </p:sp>
      <p:sp>
        <p:nvSpPr>
          <p:cNvPr id="9" name="Text 6"/>
          <p:cNvSpPr/>
          <p:nvPr/>
        </p:nvSpPr>
        <p:spPr>
          <a:xfrm>
            <a:off x="3754967" y="2010767"/>
            <a:ext cx="1979591"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0A2350"/>
                </a:solidFill>
                <a:latin typeface="Instrument Serif" pitchFamily="18" charset="0"/>
                <a:ea typeface="Instrument Serif" pitchFamily="18" charset="-122"/>
                <a:cs typeface="Instrument Serif" pitchFamily="18" charset="-120"/>
              </a:rPr>
              <a:t>Next.js client</a:t>
            </a:r>
            <a:endParaRPr lang="en-US" sz="2000" dirty="0">
              <a:latin typeface="Instrument Serif" charset="0"/>
              <a:ea typeface="Instrument Serif" charset="0"/>
              <a:cs typeface="Instrument Serif" charset="0"/>
            </a:endParaRPr>
          </a:p>
        </p:txBody>
      </p:sp>
      <p:sp>
        <p:nvSpPr>
          <p:cNvPr id="10" name="Text 7"/>
          <p:cNvSpPr/>
          <p:nvPr/>
        </p:nvSpPr>
        <p:spPr>
          <a:xfrm>
            <a:off x="3754967" y="2366367"/>
            <a:ext cx="19795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React 19 · Tailwind CSS v4</a:t>
            </a:r>
            <a:endParaRPr lang="en-US" sz="1200" dirty="0">
              <a:latin typeface="Figtree" charset="0"/>
              <a:ea typeface="Figtree" charset="0"/>
              <a:cs typeface="Figtree" charset="0"/>
            </a:endParaRPr>
          </a:p>
        </p:txBody>
      </p:sp>
      <p:pic>
        <p:nvPicPr>
          <p:cNvPr id="11" name="Image 1" descr="arrow-right">    </p:cNvPr>
          <p:cNvPicPr>
            <a:picLocks noChangeAspect="1"/>
          </p:cNvPicPr>
          <p:nvPr/>
        </p:nvPicPr>
        <p:blipFill>
          <a:blip r:embed="rId2"/>
          <a:srcRect l="0" r="0" t="0" b="0"/>
          <a:stretch/>
        </p:blipFill>
        <p:spPr>
          <a:xfrm>
            <a:off x="5892800" y="2168195"/>
            <a:ext cx="406400" cy="254000"/>
          </a:xfrm>
          <a:prstGeom prst="rect">
            <a:avLst/>
          </a:prstGeom>
        </p:spPr>
      </p:pic>
      <p:sp>
        <p:nvSpPr>
          <p:cNvPr id="12" name="Shape 8"/>
          <p:cNvSpPr/>
          <p:nvPr/>
        </p:nvSpPr>
        <p:spPr>
          <a:xfrm>
            <a:off x="6333067" y="1832967"/>
            <a:ext cx="2286000" cy="924520"/>
          </a:xfrm>
          <a:prstGeom prst="roundRect">
            <a:avLst>
              <a:gd name="adj" fmla="val 13737"/>
            </a:avLst>
          </a:prstGeom>
          <a:solidFill>
            <a:srgbClr val="0A2350"/>
          </a:solidFill>
          <a:ln/>
        </p:spPr>
      </p:sp>
      <p:sp>
        <p:nvSpPr>
          <p:cNvPr id="13" name="Text 9"/>
          <p:cNvSpPr/>
          <p:nvPr/>
        </p:nvSpPr>
        <p:spPr>
          <a:xfrm>
            <a:off x="6510867" y="2010767"/>
            <a:ext cx="1988312"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1F6F5"/>
                </a:solidFill>
                <a:latin typeface="Instrument Serif" pitchFamily="18" charset="0"/>
                <a:ea typeface="Instrument Serif" pitchFamily="18" charset="-122"/>
                <a:cs typeface="Instrument Serif" pitchFamily="18" charset="-120"/>
              </a:rPr>
              <a:t>Express API</a:t>
            </a:r>
            <a:endParaRPr lang="en-US" sz="2000" dirty="0">
              <a:latin typeface="Instrument Serif" charset="0"/>
              <a:ea typeface="Instrument Serif" charset="0"/>
              <a:cs typeface="Instrument Serif" charset="0"/>
            </a:endParaRPr>
          </a:p>
        </p:txBody>
      </p:sp>
      <p:sp>
        <p:nvSpPr>
          <p:cNvPr id="14" name="Text 10"/>
          <p:cNvSpPr/>
          <p:nvPr/>
        </p:nvSpPr>
        <p:spPr>
          <a:xfrm>
            <a:off x="6510867" y="2366367"/>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D8D5"/>
                </a:solidFill>
                <a:latin typeface="Figtree" pitchFamily="34" charset="0"/>
                <a:ea typeface="Figtree" pitchFamily="34" charset="-122"/>
                <a:cs typeface="Figtree" pitchFamily="34" charset="-120"/>
              </a:rPr>
              <a:t>Node.js · Express 5</a:t>
            </a:r>
            <a:endParaRPr lang="en-US" sz="1200" dirty="0">
              <a:latin typeface="Figtree" charset="0"/>
              <a:ea typeface="Figtree" charset="0"/>
              <a:cs typeface="Figtree" charset="0"/>
            </a:endParaRPr>
          </a:p>
        </p:txBody>
      </p:sp>
      <p:pic>
        <p:nvPicPr>
          <p:cNvPr id="15" name="Image 2" descr="arrow-right">    </p:cNvPr>
          <p:cNvPicPr>
            <a:picLocks noChangeAspect="1"/>
          </p:cNvPicPr>
          <p:nvPr/>
        </p:nvPicPr>
        <p:blipFill>
          <a:blip r:embed="rId3"/>
          <a:srcRect l="0" r="0" t="0" b="0"/>
          <a:stretch/>
        </p:blipFill>
        <p:spPr>
          <a:xfrm>
            <a:off x="8652934" y="2168195"/>
            <a:ext cx="406400" cy="254000"/>
          </a:xfrm>
          <a:prstGeom prst="rect">
            <a:avLst/>
          </a:prstGeom>
        </p:spPr>
      </p:pic>
      <p:sp>
        <p:nvSpPr>
          <p:cNvPr id="16" name="Shape 11"/>
          <p:cNvSpPr/>
          <p:nvPr/>
        </p:nvSpPr>
        <p:spPr>
          <a:xfrm>
            <a:off x="9096375" y="1831910"/>
            <a:ext cx="2279650" cy="926637"/>
          </a:xfrm>
          <a:prstGeom prst="roundRect">
            <a:avLst>
              <a:gd name="adj" fmla="val 13363"/>
            </a:avLst>
          </a:prstGeom>
          <a:solidFill>
            <a:srgbClr val="FBFDFC"/>
          </a:solidFill>
          <a:ln w="6350">
            <a:solidFill>
              <a:srgbClr val="D3E1DE"/>
            </a:solidFill>
            <a:prstDash val="solid"/>
          </a:ln>
        </p:spPr>
      </p:sp>
      <p:sp>
        <p:nvSpPr>
          <p:cNvPr id="17" name="Text 12"/>
          <p:cNvSpPr/>
          <p:nvPr/>
        </p:nvSpPr>
        <p:spPr>
          <a:xfrm>
            <a:off x="9275234" y="2010767"/>
            <a:ext cx="1979591"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0A2350"/>
                </a:solidFill>
                <a:latin typeface="Instrument Serif" pitchFamily="18" charset="0"/>
                <a:ea typeface="Instrument Serif" pitchFamily="18" charset="-122"/>
                <a:cs typeface="Instrument Serif" pitchFamily="18" charset="-120"/>
              </a:rPr>
              <a:t>MongoDB</a:t>
            </a:r>
            <a:endParaRPr lang="en-US" sz="2000" dirty="0">
              <a:latin typeface="Instrument Serif" charset="0"/>
              <a:ea typeface="Instrument Serif" charset="0"/>
              <a:cs typeface="Instrument Serif" charset="0"/>
            </a:endParaRPr>
          </a:p>
        </p:txBody>
      </p:sp>
      <p:sp>
        <p:nvSpPr>
          <p:cNvPr id="18" name="Text 13"/>
          <p:cNvSpPr/>
          <p:nvPr/>
        </p:nvSpPr>
        <p:spPr>
          <a:xfrm>
            <a:off x="9275234" y="2366367"/>
            <a:ext cx="19795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Mongoose models</a:t>
            </a:r>
            <a:endParaRPr lang="en-US" sz="1200" dirty="0">
              <a:latin typeface="Figtree" charset="0"/>
              <a:ea typeface="Figtree" charset="0"/>
              <a:cs typeface="Figtree" charset="0"/>
            </a:endParaRPr>
          </a:p>
        </p:txBody>
      </p:sp>
      <p:sp>
        <p:nvSpPr>
          <p:cNvPr id="19" name="Shape 14"/>
          <p:cNvSpPr/>
          <p:nvPr/>
        </p:nvSpPr>
        <p:spPr>
          <a:xfrm>
            <a:off x="812800" y="3041121"/>
            <a:ext cx="2527300" cy="1036241"/>
          </a:xfrm>
          <a:prstGeom prst="roundRect">
            <a:avLst>
              <a:gd name="adj" fmla="val 9805"/>
            </a:avLst>
          </a:prstGeom>
          <a:solidFill>
            <a:srgbClr val="E4F1EF"/>
          </a:solidFill>
          <a:ln/>
        </p:spPr>
      </p:sp>
      <p:sp>
        <p:nvSpPr>
          <p:cNvPr id="20" name="Text 15"/>
          <p:cNvSpPr/>
          <p:nvPr/>
        </p:nvSpPr>
        <p:spPr>
          <a:xfrm>
            <a:off x="990600" y="3193521"/>
            <a:ext cx="223685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A2350"/>
                </a:solidFill>
                <a:latin typeface="Figtree" pitchFamily="34" charset="0"/>
                <a:ea typeface="Figtree" pitchFamily="34" charset="-122"/>
                <a:cs typeface="Figtree" pitchFamily="34" charset="-120"/>
              </a:rPr>
              <a:t>JWT and bcryptjs</a:t>
            </a:r>
            <a:endParaRPr lang="en-US" sz="1500" dirty="0">
              <a:latin typeface="Figtree" charset="0"/>
              <a:ea typeface="Figtree" charset="0"/>
              <a:cs typeface="Figtree" charset="0"/>
            </a:endParaRPr>
          </a:p>
        </p:txBody>
      </p:sp>
      <p:sp>
        <p:nvSpPr>
          <p:cNvPr id="21" name="Text 16"/>
          <p:cNvSpPr/>
          <p:nvPr/>
        </p:nvSpPr>
        <p:spPr>
          <a:xfrm>
            <a:off x="990600" y="3498321"/>
            <a:ext cx="223685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Login tokens and hashed passwords</a:t>
            </a:r>
            <a:endParaRPr lang="en-US" sz="1200" dirty="0">
              <a:latin typeface="Figtree" charset="0"/>
              <a:ea typeface="Figtree" charset="0"/>
              <a:cs typeface="Figtree" charset="0"/>
            </a:endParaRPr>
          </a:p>
        </p:txBody>
      </p:sp>
      <p:sp>
        <p:nvSpPr>
          <p:cNvPr id="22" name="Shape 17"/>
          <p:cNvSpPr/>
          <p:nvPr/>
        </p:nvSpPr>
        <p:spPr>
          <a:xfrm>
            <a:off x="3492500" y="3041121"/>
            <a:ext cx="2527300" cy="1036241"/>
          </a:xfrm>
          <a:prstGeom prst="roundRect">
            <a:avLst>
              <a:gd name="adj" fmla="val 9805"/>
            </a:avLst>
          </a:prstGeom>
          <a:solidFill>
            <a:srgbClr val="E4F1EF"/>
          </a:solidFill>
          <a:ln/>
        </p:spPr>
      </p:sp>
      <p:sp>
        <p:nvSpPr>
          <p:cNvPr id="23" name="Text 18"/>
          <p:cNvSpPr/>
          <p:nvPr/>
        </p:nvSpPr>
        <p:spPr>
          <a:xfrm>
            <a:off x="3670300" y="3193521"/>
            <a:ext cx="223685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A2350"/>
                </a:solidFill>
                <a:latin typeface="Figtree" pitchFamily="34" charset="0"/>
                <a:ea typeface="Figtree" pitchFamily="34" charset="-122"/>
                <a:cs typeface="Figtree" pitchFamily="34" charset="-120"/>
              </a:rPr>
              <a:t>Zod</a:t>
            </a:r>
            <a:endParaRPr lang="en-US" sz="1500" dirty="0">
              <a:latin typeface="Figtree" charset="0"/>
              <a:ea typeface="Figtree" charset="0"/>
              <a:cs typeface="Figtree" charset="0"/>
            </a:endParaRPr>
          </a:p>
        </p:txBody>
      </p:sp>
      <p:sp>
        <p:nvSpPr>
          <p:cNvPr id="24" name="Text 19"/>
          <p:cNvSpPr/>
          <p:nvPr/>
        </p:nvSpPr>
        <p:spPr>
          <a:xfrm>
            <a:off x="3670300" y="3498321"/>
            <a:ext cx="223685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Validates booking and form data</a:t>
            </a:r>
            <a:endParaRPr lang="en-US" sz="1200" dirty="0">
              <a:latin typeface="Figtree" charset="0"/>
              <a:ea typeface="Figtree" charset="0"/>
              <a:cs typeface="Figtree" charset="0"/>
            </a:endParaRPr>
          </a:p>
        </p:txBody>
      </p:sp>
      <p:sp>
        <p:nvSpPr>
          <p:cNvPr id="25" name="Shape 20"/>
          <p:cNvSpPr/>
          <p:nvPr/>
        </p:nvSpPr>
        <p:spPr>
          <a:xfrm>
            <a:off x="6172200" y="3041121"/>
            <a:ext cx="2527300" cy="1036241"/>
          </a:xfrm>
          <a:prstGeom prst="roundRect">
            <a:avLst>
              <a:gd name="adj" fmla="val 9805"/>
            </a:avLst>
          </a:prstGeom>
          <a:solidFill>
            <a:srgbClr val="E4F1EF"/>
          </a:solidFill>
          <a:ln/>
        </p:spPr>
      </p:sp>
      <p:sp>
        <p:nvSpPr>
          <p:cNvPr id="26" name="Text 21"/>
          <p:cNvSpPr/>
          <p:nvPr/>
        </p:nvSpPr>
        <p:spPr>
          <a:xfrm>
            <a:off x="6350000" y="3193521"/>
            <a:ext cx="223685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A2350"/>
                </a:solidFill>
                <a:latin typeface="Figtree" pitchFamily="34" charset="0"/>
                <a:ea typeface="Figtree" pitchFamily="34" charset="-122"/>
                <a:cs typeface="Figtree" pitchFamily="34" charset="-120"/>
              </a:rPr>
              <a:t>Nodemailer</a:t>
            </a:r>
            <a:endParaRPr lang="en-US" sz="1500" dirty="0">
              <a:latin typeface="Figtree" charset="0"/>
              <a:ea typeface="Figtree" charset="0"/>
              <a:cs typeface="Figtree" charset="0"/>
            </a:endParaRPr>
          </a:p>
        </p:txBody>
      </p:sp>
      <p:sp>
        <p:nvSpPr>
          <p:cNvPr id="27" name="Text 22"/>
          <p:cNvSpPr/>
          <p:nvPr/>
        </p:nvSpPr>
        <p:spPr>
          <a:xfrm>
            <a:off x="6350000" y="3498321"/>
            <a:ext cx="223685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Sends booking confirmation emails</a:t>
            </a:r>
            <a:endParaRPr lang="en-US" sz="1200" dirty="0">
              <a:latin typeface="Figtree" charset="0"/>
              <a:ea typeface="Figtree" charset="0"/>
              <a:cs typeface="Figtree" charset="0"/>
            </a:endParaRPr>
          </a:p>
        </p:txBody>
      </p:sp>
      <p:sp>
        <p:nvSpPr>
          <p:cNvPr id="28" name="Shape 23"/>
          <p:cNvSpPr/>
          <p:nvPr/>
        </p:nvSpPr>
        <p:spPr>
          <a:xfrm>
            <a:off x="8851900" y="3041121"/>
            <a:ext cx="2527300" cy="1036241"/>
          </a:xfrm>
          <a:prstGeom prst="roundRect">
            <a:avLst>
              <a:gd name="adj" fmla="val 9805"/>
            </a:avLst>
          </a:prstGeom>
          <a:solidFill>
            <a:srgbClr val="E4F1EF"/>
          </a:solidFill>
          <a:ln/>
        </p:spPr>
      </p:sp>
      <p:sp>
        <p:nvSpPr>
          <p:cNvPr id="29" name="Text 24"/>
          <p:cNvSpPr/>
          <p:nvPr/>
        </p:nvSpPr>
        <p:spPr>
          <a:xfrm>
            <a:off x="9029700" y="3193521"/>
            <a:ext cx="223685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A2350"/>
                </a:solidFill>
                <a:latin typeface="Figtree" pitchFamily="34" charset="0"/>
                <a:ea typeface="Figtree" pitchFamily="34" charset="-122"/>
                <a:cs typeface="Figtree" pitchFamily="34" charset="-120"/>
              </a:rPr>
              <a:t>Gemini API</a:t>
            </a:r>
            <a:endParaRPr lang="en-US" sz="1500" dirty="0">
              <a:latin typeface="Figtree" charset="0"/>
              <a:ea typeface="Figtree" charset="0"/>
              <a:cs typeface="Figtree" charset="0"/>
            </a:endParaRPr>
          </a:p>
        </p:txBody>
      </p:sp>
      <p:sp>
        <p:nvSpPr>
          <p:cNvPr id="30" name="Text 25"/>
          <p:cNvSpPr/>
          <p:nvPr/>
        </p:nvSpPr>
        <p:spPr>
          <a:xfrm>
            <a:off x="9029700" y="3498321"/>
            <a:ext cx="22368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Powers the clinic assistant</a:t>
            </a:r>
            <a:endParaRPr lang="en-US" sz="1200" dirty="0">
              <a:latin typeface="Figtree" charset="0"/>
              <a:ea typeface="Figtree" charset="0"/>
              <a:cs typeface="Figtree" charset="0"/>
            </a:endParaRPr>
          </a:p>
        </p:txBody>
      </p:sp>
      <p:sp>
        <p:nvSpPr>
          <p:cNvPr id="31" name="Text 26"/>
          <p:cNvSpPr/>
          <p:nvPr/>
        </p:nvSpPr>
        <p:spPr>
          <a:xfrm>
            <a:off x="812800" y="4356762"/>
            <a:ext cx="98107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0222B"/>
                </a:solidFill>
                <a:latin typeface="Figtree" pitchFamily="34" charset="0"/>
                <a:ea typeface="Figtree" pitchFamily="34" charset="-122"/>
                <a:cs typeface="Figtree" pitchFamily="34" charset="-120"/>
              </a:rPr>
              <a:t>Admin requests go through Next.js server routes, which attach the login token from a cookie before calling the Express API.</a:t>
            </a:r>
            <a:endParaRPr lang="en-US" sz="1500" dirty="0">
              <a:latin typeface="Figtree" charset="0"/>
              <a:ea typeface="Figtree" charset="0"/>
              <a:cs typeface="Figtree" charset="0"/>
            </a:endParaRPr>
          </a:p>
        </p:txBody>
      </p:sp>
      <p:sp>
        <p:nvSpPr>
          <p:cNvPr id="32" name="Text 2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Nexmove · Team B</a:t>
            </a:r>
            <a:endParaRPr lang="en-US" sz="1200" dirty="0">
              <a:latin typeface="Figtree" charset="0"/>
              <a:ea typeface="Figtree" charset="0"/>
              <a:cs typeface="Figtree" charset="0"/>
            </a:endParaRPr>
          </a:p>
        </p:txBody>
      </p:sp>
      <p:sp>
        <p:nvSpPr>
          <p:cNvPr id="33" name="Text 2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85F"/>
                </a:solidFill>
                <a:latin typeface="Figtree" pitchFamily="34" charset="0"/>
                <a:ea typeface="Figtree" pitchFamily="34" charset="-122"/>
                <a:cs typeface="Figtree" pitchFamily="34" charset="-120"/>
              </a:rPr>
              <a:t>04</a:t>
            </a:r>
            <a:endParaRPr lang="en-US" sz="1200" dirty="0">
              <a:latin typeface="Figtree" charset="0"/>
              <a:ea typeface="Figtree" charset="0"/>
              <a:cs typeface="Figtree"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4F1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B74"/>
                </a:solidFill>
                <a:latin typeface="Figtree" pitchFamily="34" charset="0"/>
                <a:ea typeface="Figtree" pitchFamily="34" charset="-122"/>
                <a:cs typeface="Figtree" pitchFamily="34" charset="-120"/>
              </a:rPr>
              <a:t>BOOKING</a:t>
            </a:r>
            <a:endParaRPr lang="en-US" sz="1200" dirty="0">
              <a:latin typeface="Figtree" charset="0"/>
              <a:ea typeface="Figtree" charset="0"/>
              <a:cs typeface="Figtree" charset="0"/>
            </a:endParaRPr>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A2350"/>
                </a:solidFill>
                <a:latin typeface="Instrument Serif" pitchFamily="18" charset="0"/>
                <a:ea typeface="Instrument Serif" pitchFamily="18" charset="-122"/>
                <a:cs typeface="Instrument Serif" pitchFamily="18" charset="-120"/>
              </a:rPr>
              <a:t>Booking flow without double booking</a:t>
            </a:r>
            <a:endParaRPr lang="en-US" sz="3200" dirty="0">
              <a:latin typeface="Instrument Serif" charset="0"/>
              <a:ea typeface="Instrument Serif" charset="0"/>
              <a:cs typeface="Instrument Serif" charset="0"/>
            </a:endParaRPr>
          </a:p>
        </p:txBody>
      </p:sp>
      <p:sp>
        <p:nvSpPr>
          <p:cNvPr id="4" name="Shape 2"/>
          <p:cNvSpPr/>
          <p:nvPr/>
        </p:nvSpPr>
        <p:spPr>
          <a:xfrm>
            <a:off x="815975" y="1831910"/>
            <a:ext cx="5433483" cy="3386733"/>
          </a:xfrm>
          <a:prstGeom prst="roundRect">
            <a:avLst>
              <a:gd name="adj" fmla="val 3656"/>
            </a:avLst>
          </a:prstGeom>
          <a:solidFill>
            <a:srgbClr val="FBFDFC"/>
          </a:solidFill>
          <a:ln w="6350">
            <a:solidFill>
              <a:srgbClr val="CFE0DC"/>
            </a:solidFill>
            <a:prstDash val="solid"/>
          </a:ln>
        </p:spPr>
      </p:sp>
      <p:sp>
        <p:nvSpPr>
          <p:cNvPr id="5" name="Text 3"/>
          <p:cNvSpPr/>
          <p:nvPr/>
        </p:nvSpPr>
        <p:spPr>
          <a:xfrm>
            <a:off x="1071033" y="2061567"/>
            <a:ext cx="507106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6B74"/>
                </a:solidFill>
                <a:latin typeface="Figtree" pitchFamily="34" charset="0"/>
                <a:ea typeface="Figtree" pitchFamily="34" charset="-122"/>
                <a:cs typeface="Figtree" pitchFamily="34" charset="-120"/>
              </a:rPr>
              <a:t>The patient’s steps</a:t>
            </a:r>
            <a:endParaRPr lang="en-US" sz="1200" dirty="0">
              <a:latin typeface="Figtree" charset="0"/>
              <a:ea typeface="Figtree" charset="0"/>
              <a:cs typeface="Figtree" charset="0"/>
            </a:endParaRPr>
          </a:p>
        </p:txBody>
      </p:sp>
      <p:sp>
        <p:nvSpPr>
          <p:cNvPr id="6" name="Text 4"/>
          <p:cNvSpPr/>
          <p:nvPr/>
        </p:nvSpPr>
        <p:spPr>
          <a:xfrm>
            <a:off x="1119584" y="2376488"/>
            <a:ext cx="5014897" cy="2292350"/>
          </a:xfrm>
          <a:prstGeom prst="rect">
            <a:avLst/>
          </a:prstGeom>
          <a:noFill/>
          <a:ln/>
        </p:spPr>
        <p:txBody>
          <a:bodyPr wrap="square" lIns="0" tIns="0" rIns="0" bIns="0" rtlCol="0" anchor="t">
            <a:normAutofit/>
          </a:bodyPr>
          <a:lstStyle/>
          <a:p>
            <a:pPr algn="l" marL="205449" indent="-205449">
              <a:lnSpc>
                <a:spcPts val="2550"/>
              </a:lnSpc>
              <a:buSzPct val="100000"/>
              <a:buFontTx/>
              <a:buAutoNum type="arabicPeriod" startAt="1"/>
            </a:pPr>
            <a:r>
              <a:rPr lang="en-US" sz="1500" dirty="0">
                <a:solidFill>
                  <a:srgbClr val="10222B"/>
                </a:solidFill>
                <a:latin typeface="Figtree" pitchFamily="34" charset="0"/>
                <a:ea typeface="Figtree" pitchFamily="34" charset="-122"/>
                <a:cs typeface="Figtree" pitchFamily="34" charset="-120"/>
              </a:rPr>
              <a:t>Choose a service</a:t>
            </a:r>
            <a:endParaRPr lang="en-US" sz="1500" dirty="0">
              <a:latin typeface="Figtree" charset="0"/>
              <a:ea typeface="Figtree" charset="0"/>
              <a:cs typeface="Figtree" charset="0"/>
            </a:endParaRPr>
          </a:p>
          <a:p>
            <a:pPr algn="l" marL="205449" indent="-205449">
              <a:lnSpc>
                <a:spcPts val="2550"/>
              </a:lnSpc>
              <a:buSzPct val="100000"/>
              <a:buFontTx/>
              <a:buAutoNum type="arabicPeriod" startAt="1"/>
            </a:pPr>
            <a:r>
              <a:rPr lang="en-US" sz="1500" dirty="0">
                <a:solidFill>
                  <a:srgbClr val="10222B"/>
                </a:solidFill>
                <a:latin typeface="Figtree" pitchFamily="34" charset="0"/>
                <a:ea typeface="Figtree" pitchFamily="34" charset="-122"/>
                <a:cs typeface="Figtree" pitchFamily="34" charset="-120"/>
              </a:rPr>
              <a:t>Choose a therapist or any available</a:t>
            </a:r>
            <a:endParaRPr lang="en-US" sz="1500" dirty="0">
              <a:latin typeface="Figtree" charset="0"/>
              <a:ea typeface="Figtree" charset="0"/>
              <a:cs typeface="Figtree" charset="0"/>
            </a:endParaRPr>
          </a:p>
          <a:p>
            <a:pPr algn="l" marL="205449" indent="-205449">
              <a:lnSpc>
                <a:spcPts val="2550"/>
              </a:lnSpc>
              <a:buSzPct val="100000"/>
              <a:buFontTx/>
              <a:buAutoNum type="arabicPeriod" startAt="1"/>
            </a:pPr>
            <a:r>
              <a:rPr lang="en-US" sz="1500" dirty="0">
                <a:solidFill>
                  <a:srgbClr val="10222B"/>
                </a:solidFill>
                <a:latin typeface="Figtree" pitchFamily="34" charset="0"/>
                <a:ea typeface="Figtree" pitchFamily="34" charset="-122"/>
                <a:cs typeface="Figtree" pitchFamily="34" charset="-120"/>
              </a:rPr>
              <a:t>Choose a date</a:t>
            </a:r>
            <a:endParaRPr lang="en-US" sz="1500" dirty="0">
              <a:latin typeface="Figtree" charset="0"/>
              <a:ea typeface="Figtree" charset="0"/>
              <a:cs typeface="Figtree" charset="0"/>
            </a:endParaRPr>
          </a:p>
          <a:p>
            <a:pPr algn="l" marL="205449" indent="-205449">
              <a:lnSpc>
                <a:spcPts val="2550"/>
              </a:lnSpc>
              <a:buSzPct val="100000"/>
              <a:buFontTx/>
              <a:buAutoNum type="arabicPeriod" startAt="1"/>
            </a:pPr>
            <a:r>
              <a:rPr lang="en-US" sz="1500" dirty="0">
                <a:solidFill>
                  <a:srgbClr val="10222B"/>
                </a:solidFill>
                <a:latin typeface="Figtree" pitchFamily="34" charset="0"/>
                <a:ea typeface="Figtree" pitchFamily="34" charset="-122"/>
                <a:cs typeface="Figtree" pitchFamily="34" charset="-120"/>
              </a:rPr>
              <a:t>Server returns the free slots</a:t>
            </a:r>
            <a:endParaRPr lang="en-US" sz="1500" dirty="0">
              <a:latin typeface="Figtree" charset="0"/>
              <a:ea typeface="Figtree" charset="0"/>
              <a:cs typeface="Figtree" charset="0"/>
            </a:endParaRPr>
          </a:p>
          <a:p>
            <a:pPr algn="l" marL="205449" indent="-205449">
              <a:lnSpc>
                <a:spcPts val="2550"/>
              </a:lnSpc>
              <a:buSzPct val="100000"/>
              <a:buFontTx/>
              <a:buAutoNum type="arabicPeriod" startAt="1"/>
            </a:pPr>
            <a:r>
              <a:rPr lang="en-US" sz="1500" dirty="0">
                <a:solidFill>
                  <a:srgbClr val="10222B"/>
                </a:solidFill>
                <a:latin typeface="Figtree" pitchFamily="34" charset="0"/>
                <a:ea typeface="Figtree" pitchFamily="34" charset="-122"/>
                <a:cs typeface="Figtree" pitchFamily="34" charset="-120"/>
              </a:rPr>
              <a:t>Enter details and give consent</a:t>
            </a:r>
            <a:endParaRPr lang="en-US" sz="1500" dirty="0">
              <a:latin typeface="Figtree" charset="0"/>
              <a:ea typeface="Figtree" charset="0"/>
              <a:cs typeface="Figtree" charset="0"/>
            </a:endParaRPr>
          </a:p>
          <a:p>
            <a:pPr algn="l" marL="205449" indent="-205449">
              <a:lnSpc>
                <a:spcPts val="2550"/>
              </a:lnSpc>
              <a:buSzPct val="100000"/>
              <a:buFontTx/>
              <a:buAutoNum type="arabicPeriod" startAt="1"/>
            </a:pPr>
            <a:r>
              <a:rPr lang="en-US" sz="1500" dirty="0">
                <a:solidFill>
                  <a:srgbClr val="10222B"/>
                </a:solidFill>
                <a:latin typeface="Figtree" pitchFamily="34" charset="0"/>
                <a:ea typeface="Figtree" pitchFamily="34" charset="-122"/>
                <a:cs typeface="Figtree" pitchFamily="34" charset="-120"/>
              </a:rPr>
              <a:t>Server re-checks the slot and books it</a:t>
            </a:r>
            <a:endParaRPr lang="en-US" sz="1500" dirty="0">
              <a:latin typeface="Figtree" charset="0"/>
              <a:ea typeface="Figtree" charset="0"/>
              <a:cs typeface="Figtree" charset="0"/>
            </a:endParaRPr>
          </a:p>
          <a:p>
            <a:pPr algn="l" marL="205449" indent="-205449">
              <a:lnSpc>
                <a:spcPts val="2550"/>
              </a:lnSpc>
              <a:buSzPct val="100000"/>
              <a:buFontTx/>
              <a:buAutoNum type="arabicPeriod" startAt="1"/>
            </a:pPr>
            <a:r>
              <a:rPr lang="en-US" sz="1500" dirty="0">
                <a:solidFill>
                  <a:srgbClr val="10222B"/>
                </a:solidFill>
                <a:latin typeface="Figtree" pitchFamily="34" charset="0"/>
                <a:ea typeface="Figtree" pitchFamily="34" charset="-122"/>
                <a:cs typeface="Figtree" pitchFamily="34" charset="-120"/>
              </a:rPr>
              <a:t>Confirmation email, status Pending</a:t>
            </a:r>
            <a:endParaRPr lang="en-US" sz="1500" dirty="0">
              <a:latin typeface="Figtree" charset="0"/>
              <a:ea typeface="Figtree" charset="0"/>
              <a:cs typeface="Figtree" charset="0"/>
            </a:endParaRPr>
          </a:p>
        </p:txBody>
      </p:sp>
      <p:sp>
        <p:nvSpPr>
          <p:cNvPr id="7" name="Shape 5"/>
          <p:cNvSpPr/>
          <p:nvPr/>
        </p:nvSpPr>
        <p:spPr>
          <a:xfrm>
            <a:off x="6455833" y="1828735"/>
            <a:ext cx="4923367" cy="1046361"/>
          </a:xfrm>
          <a:prstGeom prst="roundRect">
            <a:avLst>
              <a:gd name="adj" fmla="val 12137"/>
            </a:avLst>
          </a:prstGeom>
          <a:solidFill>
            <a:srgbClr val="0A2350"/>
          </a:solidFill>
          <a:ln/>
        </p:spPr>
      </p:sp>
      <p:sp>
        <p:nvSpPr>
          <p:cNvPr id="8" name="Text 6"/>
          <p:cNvSpPr/>
          <p:nvPr/>
        </p:nvSpPr>
        <p:spPr>
          <a:xfrm>
            <a:off x="6633634" y="2006535"/>
            <a:ext cx="4704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B8A7"/>
                </a:solidFill>
                <a:latin typeface="Figtree" pitchFamily="34" charset="0"/>
                <a:ea typeface="Figtree" pitchFamily="34" charset="-122"/>
                <a:cs typeface="Figtree" pitchFamily="34" charset="-120"/>
              </a:rPr>
              <a:t>1 · Short lock</a:t>
            </a:r>
            <a:endParaRPr lang="en-US" sz="1200" dirty="0">
              <a:latin typeface="Figtree" charset="0"/>
              <a:ea typeface="Figtree" charset="0"/>
              <a:cs typeface="Figtree" charset="0"/>
            </a:endParaRPr>
          </a:p>
        </p:txBody>
      </p:sp>
      <p:sp>
        <p:nvSpPr>
          <p:cNvPr id="9" name="Text 7"/>
          <p:cNvSpPr/>
          <p:nvPr/>
        </p:nvSpPr>
        <p:spPr>
          <a:xfrm>
            <a:off x="6633634" y="2270655"/>
            <a:ext cx="4704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F6F5"/>
                </a:solidFill>
                <a:latin typeface="Figtree" pitchFamily="34" charset="0"/>
                <a:ea typeface="Figtree" pitchFamily="34" charset="-122"/>
                <a:cs typeface="Figtree" pitchFamily="34" charset="-120"/>
              </a:rPr>
              <a:t>Each therapist and day is locked for up to 5 minutes while a booking is processed.</a:t>
            </a:r>
            <a:endParaRPr lang="en-US" sz="1200" dirty="0">
              <a:latin typeface="Figtree" charset="0"/>
              <a:ea typeface="Figtree" charset="0"/>
              <a:cs typeface="Figtree" charset="0"/>
            </a:endParaRPr>
          </a:p>
        </p:txBody>
      </p:sp>
      <p:sp>
        <p:nvSpPr>
          <p:cNvPr id="10" name="Shape 8"/>
          <p:cNvSpPr/>
          <p:nvPr/>
        </p:nvSpPr>
        <p:spPr>
          <a:xfrm>
            <a:off x="6455833" y="3002096"/>
            <a:ext cx="4923367" cy="1046361"/>
          </a:xfrm>
          <a:prstGeom prst="roundRect">
            <a:avLst>
              <a:gd name="adj" fmla="val 12137"/>
            </a:avLst>
          </a:prstGeom>
          <a:solidFill>
            <a:srgbClr val="0A2350"/>
          </a:solidFill>
          <a:ln/>
        </p:spPr>
      </p:sp>
      <p:sp>
        <p:nvSpPr>
          <p:cNvPr id="11" name="Text 9"/>
          <p:cNvSpPr/>
          <p:nvPr/>
        </p:nvSpPr>
        <p:spPr>
          <a:xfrm>
            <a:off x="6633634" y="3179896"/>
            <a:ext cx="4704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B8A7"/>
                </a:solidFill>
                <a:latin typeface="Figtree" pitchFamily="34" charset="0"/>
                <a:ea typeface="Figtree" pitchFamily="34" charset="-122"/>
                <a:cs typeface="Figtree" pitchFamily="34" charset="-120"/>
              </a:rPr>
              <a:t>2 · Second check</a:t>
            </a:r>
            <a:endParaRPr lang="en-US" sz="1200" dirty="0">
              <a:latin typeface="Figtree" charset="0"/>
              <a:ea typeface="Figtree" charset="0"/>
              <a:cs typeface="Figtree" charset="0"/>
            </a:endParaRPr>
          </a:p>
        </p:txBody>
      </p:sp>
      <p:sp>
        <p:nvSpPr>
          <p:cNvPr id="12" name="Text 10"/>
          <p:cNvSpPr/>
          <p:nvPr/>
        </p:nvSpPr>
        <p:spPr>
          <a:xfrm>
            <a:off x="6633634" y="3444016"/>
            <a:ext cx="4704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F6F5"/>
                </a:solidFill>
                <a:latin typeface="Figtree" pitchFamily="34" charset="0"/>
                <a:ea typeface="Figtree" pitchFamily="34" charset="-122"/>
                <a:cs typeface="Figtree" pitchFamily="34" charset="-120"/>
              </a:rPr>
              <a:t>The server checks the chosen slot again against working hours, holidays and existing bookings.</a:t>
            </a:r>
            <a:endParaRPr lang="en-US" sz="1200" dirty="0">
              <a:latin typeface="Figtree" charset="0"/>
              <a:ea typeface="Figtree" charset="0"/>
              <a:cs typeface="Figtree" charset="0"/>
            </a:endParaRPr>
          </a:p>
        </p:txBody>
      </p:sp>
      <p:sp>
        <p:nvSpPr>
          <p:cNvPr id="13" name="Shape 11"/>
          <p:cNvSpPr/>
          <p:nvPr/>
        </p:nvSpPr>
        <p:spPr>
          <a:xfrm>
            <a:off x="6455833" y="4175457"/>
            <a:ext cx="4923367" cy="1046361"/>
          </a:xfrm>
          <a:prstGeom prst="roundRect">
            <a:avLst>
              <a:gd name="adj" fmla="val 12137"/>
            </a:avLst>
          </a:prstGeom>
          <a:solidFill>
            <a:srgbClr val="0A2350"/>
          </a:solidFill>
          <a:ln/>
        </p:spPr>
      </p:sp>
      <p:sp>
        <p:nvSpPr>
          <p:cNvPr id="14" name="Text 12"/>
          <p:cNvSpPr/>
          <p:nvPr/>
        </p:nvSpPr>
        <p:spPr>
          <a:xfrm>
            <a:off x="6633634" y="4353257"/>
            <a:ext cx="4704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B8A7"/>
                </a:solidFill>
                <a:latin typeface="Figtree" pitchFamily="34" charset="0"/>
                <a:ea typeface="Figtree" pitchFamily="34" charset="-122"/>
                <a:cs typeface="Figtree" pitchFamily="34" charset="-120"/>
              </a:rPr>
              <a:t>3 · Database rule</a:t>
            </a:r>
            <a:endParaRPr lang="en-US" sz="1200" dirty="0">
              <a:latin typeface="Figtree" charset="0"/>
              <a:ea typeface="Figtree" charset="0"/>
              <a:cs typeface="Figtree" charset="0"/>
            </a:endParaRPr>
          </a:p>
        </p:txBody>
      </p:sp>
      <p:sp>
        <p:nvSpPr>
          <p:cNvPr id="15" name="Text 13"/>
          <p:cNvSpPr/>
          <p:nvPr/>
        </p:nvSpPr>
        <p:spPr>
          <a:xfrm>
            <a:off x="6633634" y="4617377"/>
            <a:ext cx="4704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F6F5"/>
                </a:solidFill>
                <a:latin typeface="Figtree" pitchFamily="34" charset="0"/>
                <a:ea typeface="Figtree" pitchFamily="34" charset="-122"/>
                <a:cs typeface="Figtree" pitchFamily="34" charset="-120"/>
              </a:rPr>
              <a:t>A unique database index blocks two active appointments at the same therapist and time.</a:t>
            </a:r>
            <a:endParaRPr lang="en-US" sz="1200" dirty="0">
              <a:latin typeface="Figtree" charset="0"/>
              <a:ea typeface="Figtree" charset="0"/>
              <a:cs typeface="Figtree" charset="0"/>
            </a:endParaRPr>
          </a:p>
        </p:txBody>
      </p:sp>
      <p:sp>
        <p:nvSpPr>
          <p:cNvPr id="16" name="Text 1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Nexmove · Team B</a:t>
            </a:r>
            <a:endParaRPr lang="en-US" sz="1200" dirty="0">
              <a:latin typeface="Figtree" charset="0"/>
              <a:ea typeface="Figtree" charset="0"/>
              <a:cs typeface="Figtree" charset="0"/>
            </a:endParaRPr>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85F"/>
                </a:solidFill>
                <a:latin typeface="Figtree" pitchFamily="34" charset="0"/>
                <a:ea typeface="Figtree" pitchFamily="34" charset="-122"/>
                <a:cs typeface="Figtree" pitchFamily="34" charset="-120"/>
              </a:rPr>
              <a:t>05</a:t>
            </a:r>
            <a:endParaRPr lang="en-US" sz="1200" dirty="0">
              <a:latin typeface="Figtree" charset="0"/>
              <a:ea typeface="Figtree" charset="0"/>
              <a:cs typeface="Figtree"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B74"/>
                </a:solidFill>
                <a:latin typeface="Figtree" pitchFamily="34" charset="0"/>
                <a:ea typeface="Figtree" pitchFamily="34" charset="-122"/>
                <a:cs typeface="Figtree" pitchFamily="34" charset="-120"/>
              </a:rPr>
              <a:t>ACCOUNTS</a:t>
            </a:r>
            <a:endParaRPr lang="en-US" sz="1200" dirty="0">
              <a:latin typeface="Figtree" charset="0"/>
              <a:ea typeface="Figtree" charset="0"/>
              <a:cs typeface="Figtree" charset="0"/>
            </a:endParaRPr>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A2350"/>
                </a:solidFill>
                <a:latin typeface="Instrument Serif" pitchFamily="18" charset="0"/>
                <a:ea typeface="Instrument Serif" pitchFamily="18" charset="-122"/>
                <a:cs typeface="Instrument Serif" pitchFamily="18" charset="-120"/>
              </a:rPr>
              <a:t>Accounts, roles and the patient portal</a:t>
            </a:r>
            <a:endParaRPr lang="en-US" sz="3200" dirty="0">
              <a:latin typeface="Instrument Serif" charset="0"/>
              <a:ea typeface="Instrument Serif" charset="0"/>
              <a:cs typeface="Instrument Serif" charset="0"/>
            </a:endParaRPr>
          </a:p>
        </p:txBody>
      </p:sp>
      <p:sp>
        <p:nvSpPr>
          <p:cNvPr id="4" name="Shape 2"/>
          <p:cNvSpPr/>
          <p:nvPr/>
        </p:nvSpPr>
        <p:spPr>
          <a:xfrm>
            <a:off x="815975" y="1857310"/>
            <a:ext cx="3380317" cy="2326217"/>
          </a:xfrm>
          <a:prstGeom prst="roundRect">
            <a:avLst>
              <a:gd name="adj" fmla="val 5323"/>
            </a:avLst>
          </a:prstGeom>
          <a:solidFill>
            <a:srgbClr val="FBFDFC"/>
          </a:solidFill>
          <a:ln w="6350">
            <a:solidFill>
              <a:srgbClr val="D3E1DE"/>
            </a:solidFill>
            <a:prstDash val="solid"/>
          </a:ln>
        </p:spPr>
      </p:sp>
      <p:pic>
        <p:nvPicPr>
          <p:cNvPr id="5" name="Image 0" descr="Users">    </p:cNvPr>
          <p:cNvPicPr>
            <a:picLocks noChangeAspect="1"/>
          </p:cNvPicPr>
          <p:nvPr/>
        </p:nvPicPr>
        <p:blipFill>
          <a:blip r:embed="rId1"/>
          <a:srcRect l="0" r="0" t="0" b="0"/>
          <a:stretch/>
        </p:blipFill>
        <p:spPr>
          <a:xfrm>
            <a:off x="1071033" y="2112367"/>
            <a:ext cx="279400" cy="279400"/>
          </a:xfrm>
          <a:prstGeom prst="rect">
            <a:avLst/>
          </a:prstGeom>
        </p:spPr>
      </p:pic>
      <p:sp>
        <p:nvSpPr>
          <p:cNvPr id="6" name="Text 3"/>
          <p:cNvSpPr/>
          <p:nvPr/>
        </p:nvSpPr>
        <p:spPr>
          <a:xfrm>
            <a:off x="1071033" y="2480667"/>
            <a:ext cx="2956306"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0A2350"/>
                </a:solidFill>
                <a:latin typeface="Instrument Serif" pitchFamily="18" charset="0"/>
                <a:ea typeface="Instrument Serif" pitchFamily="18" charset="-122"/>
                <a:cs typeface="Instrument Serif" pitchFamily="18" charset="-120"/>
              </a:rPr>
              <a:t>Patient</a:t>
            </a:r>
            <a:endParaRPr lang="en-US" sz="2000" dirty="0">
              <a:latin typeface="Instrument Serif" charset="0"/>
              <a:ea typeface="Instrument Serif" charset="0"/>
              <a:cs typeface="Instrument Serif" charset="0"/>
            </a:endParaRPr>
          </a:p>
        </p:txBody>
      </p:sp>
      <p:sp>
        <p:nvSpPr>
          <p:cNvPr id="7" name="Text 4"/>
          <p:cNvSpPr/>
          <p:nvPr/>
        </p:nvSpPr>
        <p:spPr>
          <a:xfrm>
            <a:off x="1071033" y="2861667"/>
            <a:ext cx="2956306"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85F"/>
                </a:solidFill>
                <a:latin typeface="Figtree" pitchFamily="34" charset="0"/>
                <a:ea typeface="Figtree" pitchFamily="34" charset="-122"/>
                <a:cs typeface="Figtree" pitchFamily="34" charset="-120"/>
              </a:rPr>
              <a:t>Signs up, logs in and books with an account or as a guest. The portal lists their own appointments.</a:t>
            </a:r>
            <a:endParaRPr lang="en-US" sz="1500" dirty="0">
              <a:latin typeface="Figtree" charset="0"/>
              <a:ea typeface="Figtree" charset="0"/>
              <a:cs typeface="Figtree" charset="0"/>
            </a:endParaRPr>
          </a:p>
        </p:txBody>
      </p:sp>
      <p:sp>
        <p:nvSpPr>
          <p:cNvPr id="8" name="Shape 5"/>
          <p:cNvSpPr/>
          <p:nvPr/>
        </p:nvSpPr>
        <p:spPr>
          <a:xfrm>
            <a:off x="4405842" y="1857310"/>
            <a:ext cx="3380317" cy="2326217"/>
          </a:xfrm>
          <a:prstGeom prst="roundRect">
            <a:avLst>
              <a:gd name="adj" fmla="val 5323"/>
            </a:avLst>
          </a:prstGeom>
          <a:solidFill>
            <a:srgbClr val="FBFDFC"/>
          </a:solidFill>
          <a:ln w="6350">
            <a:solidFill>
              <a:srgbClr val="D3E1DE"/>
            </a:solidFill>
            <a:prstDash val="solid"/>
          </a:ln>
        </p:spPr>
      </p:sp>
      <p:pic>
        <p:nvPicPr>
          <p:cNvPr id="9" name="Image 1" descr="Activity">    </p:cNvPr>
          <p:cNvPicPr>
            <a:picLocks noChangeAspect="1"/>
          </p:cNvPicPr>
          <p:nvPr/>
        </p:nvPicPr>
        <p:blipFill>
          <a:blip r:embed="rId2"/>
          <a:srcRect l="0" r="0" t="0" b="0"/>
          <a:stretch/>
        </p:blipFill>
        <p:spPr>
          <a:xfrm>
            <a:off x="4660900" y="2112367"/>
            <a:ext cx="279400" cy="279400"/>
          </a:xfrm>
          <a:prstGeom prst="rect">
            <a:avLst/>
          </a:prstGeom>
        </p:spPr>
      </p:pic>
      <p:sp>
        <p:nvSpPr>
          <p:cNvPr id="10" name="Text 6"/>
          <p:cNvSpPr/>
          <p:nvPr/>
        </p:nvSpPr>
        <p:spPr>
          <a:xfrm>
            <a:off x="4660900" y="2480667"/>
            <a:ext cx="2956306"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0A2350"/>
                </a:solidFill>
                <a:latin typeface="Instrument Serif" pitchFamily="18" charset="0"/>
                <a:ea typeface="Instrument Serif" pitchFamily="18" charset="-122"/>
                <a:cs typeface="Instrument Serif" pitchFamily="18" charset="-120"/>
              </a:rPr>
              <a:t>Therapist</a:t>
            </a:r>
            <a:endParaRPr lang="en-US" sz="2000" dirty="0">
              <a:latin typeface="Instrument Serif" charset="0"/>
              <a:ea typeface="Instrument Serif" charset="0"/>
              <a:cs typeface="Instrument Serif" charset="0"/>
            </a:endParaRPr>
          </a:p>
        </p:txBody>
      </p:sp>
      <p:sp>
        <p:nvSpPr>
          <p:cNvPr id="11" name="Text 7"/>
          <p:cNvSpPr/>
          <p:nvPr/>
        </p:nvSpPr>
        <p:spPr>
          <a:xfrm>
            <a:off x="4660900" y="2861667"/>
            <a:ext cx="2956306"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85F"/>
                </a:solidFill>
                <a:latin typeface="Figtree" pitchFamily="34" charset="0"/>
                <a:ea typeface="Figtree" pitchFamily="34" charset="-122"/>
                <a:cs typeface="Figtree" pitchFamily="34" charset="-120"/>
              </a:rPr>
              <a:t>The role exists in the database and in route permissions. A dedicated portal page is still to be built.</a:t>
            </a:r>
            <a:endParaRPr lang="en-US" sz="1500" dirty="0">
              <a:latin typeface="Figtree" charset="0"/>
              <a:ea typeface="Figtree" charset="0"/>
              <a:cs typeface="Figtree" charset="0"/>
            </a:endParaRPr>
          </a:p>
        </p:txBody>
      </p:sp>
      <p:sp>
        <p:nvSpPr>
          <p:cNvPr id="12" name="Shape 8"/>
          <p:cNvSpPr/>
          <p:nvPr/>
        </p:nvSpPr>
        <p:spPr>
          <a:xfrm>
            <a:off x="7995709" y="1857310"/>
            <a:ext cx="3380317" cy="2326217"/>
          </a:xfrm>
          <a:prstGeom prst="roundRect">
            <a:avLst>
              <a:gd name="adj" fmla="val 5323"/>
            </a:avLst>
          </a:prstGeom>
          <a:solidFill>
            <a:srgbClr val="FBFDFC"/>
          </a:solidFill>
          <a:ln w="6350">
            <a:solidFill>
              <a:srgbClr val="D3E1DE"/>
            </a:solidFill>
            <a:prstDash val="solid"/>
          </a:ln>
        </p:spPr>
      </p:sp>
      <p:pic>
        <p:nvPicPr>
          <p:cNvPr id="13" name="Image 2" descr="Lock">    </p:cNvPr>
          <p:cNvPicPr>
            <a:picLocks noChangeAspect="1"/>
          </p:cNvPicPr>
          <p:nvPr/>
        </p:nvPicPr>
        <p:blipFill>
          <a:blip r:embed="rId3"/>
          <a:srcRect l="0" r="0" t="0" b="0"/>
          <a:stretch/>
        </p:blipFill>
        <p:spPr>
          <a:xfrm>
            <a:off x="8250767" y="2112367"/>
            <a:ext cx="279400" cy="279400"/>
          </a:xfrm>
          <a:prstGeom prst="rect">
            <a:avLst/>
          </a:prstGeom>
        </p:spPr>
      </p:pic>
      <p:sp>
        <p:nvSpPr>
          <p:cNvPr id="14" name="Text 9"/>
          <p:cNvSpPr/>
          <p:nvPr/>
        </p:nvSpPr>
        <p:spPr>
          <a:xfrm>
            <a:off x="8250767" y="2480667"/>
            <a:ext cx="2956306"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0A2350"/>
                </a:solidFill>
                <a:latin typeface="Instrument Serif" pitchFamily="18" charset="0"/>
                <a:ea typeface="Instrument Serif" pitchFamily="18" charset="-122"/>
                <a:cs typeface="Instrument Serif" pitchFamily="18" charset="-120"/>
              </a:rPr>
              <a:t>Admin</a:t>
            </a:r>
            <a:endParaRPr lang="en-US" sz="2000" dirty="0">
              <a:latin typeface="Instrument Serif" charset="0"/>
              <a:ea typeface="Instrument Serif" charset="0"/>
              <a:cs typeface="Instrument Serif" charset="0"/>
            </a:endParaRPr>
          </a:p>
        </p:txBody>
      </p:sp>
      <p:sp>
        <p:nvSpPr>
          <p:cNvPr id="15" name="Text 10"/>
          <p:cNvSpPr/>
          <p:nvPr/>
        </p:nvSpPr>
        <p:spPr>
          <a:xfrm>
            <a:off x="8250767" y="2861667"/>
            <a:ext cx="2956306"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85F"/>
                </a:solidFill>
                <a:latin typeface="Figtree" pitchFamily="34" charset="0"/>
                <a:ea typeface="Figtree" pitchFamily="34" charset="-122"/>
                <a:cs typeface="Figtree" pitchFamily="34" charset="-120"/>
              </a:rPr>
              <a:t>The admin area is protected in the page and again on the server for every admin request.</a:t>
            </a:r>
            <a:endParaRPr lang="en-US" sz="1500" dirty="0">
              <a:latin typeface="Figtree" charset="0"/>
              <a:ea typeface="Figtree" charset="0"/>
              <a:cs typeface="Figtree" charset="0"/>
            </a:endParaRPr>
          </a:p>
        </p:txBody>
      </p:sp>
      <p:sp>
        <p:nvSpPr>
          <p:cNvPr id="16" name="Text 11"/>
          <p:cNvSpPr/>
          <p:nvPr/>
        </p:nvSpPr>
        <p:spPr>
          <a:xfrm>
            <a:off x="812800" y="4491503"/>
            <a:ext cx="2588154" cy="416520"/>
          </a:xfrm>
          <a:prstGeom prst="roundRect">
            <a:avLst>
              <a:gd name="adj" fmla="val 50000"/>
            </a:avLst>
          </a:prstGeom>
          <a:solidFill>
            <a:srgbClr val="E4F1EF"/>
          </a:solidFill>
          <a:ln/>
        </p:spPr>
        <p:txBody>
          <a:bodyPr wrap="none" lIns="0" tIns="0" rIns="0" bIns="0" rtlCol="0" anchor="ctr">
            <a:normAutofit/>
          </a:bodyPr>
          <a:lstStyle/>
          <a:p>
            <a:pPr algn="ctr" indent="0" marL="0">
              <a:lnSpc>
                <a:spcPts val="1680"/>
              </a:lnSpc>
              <a:buNone/>
            </a:pPr>
            <a:r>
              <a:rPr lang="en-US" sz="1200" b="1" dirty="0">
                <a:solidFill>
                  <a:srgbClr val="0A2350"/>
                </a:solidFill>
                <a:latin typeface="Figtree" pitchFamily="34" charset="0"/>
                <a:ea typeface="Figtree" pitchFamily="34" charset="-122"/>
                <a:cs typeface="Figtree" pitchFamily="34" charset="-120"/>
              </a:rPr>
              <a:t>Passwords hashed with bcryptjs</a:t>
            </a:r>
            <a:endParaRPr lang="en-US" sz="1200" dirty="0">
              <a:latin typeface="Figtree" charset="0"/>
              <a:ea typeface="Figtree" charset="0"/>
              <a:cs typeface="Figtree" charset="0"/>
            </a:endParaRPr>
          </a:p>
        </p:txBody>
      </p:sp>
      <p:sp>
        <p:nvSpPr>
          <p:cNvPr id="17" name="Text 12"/>
          <p:cNvSpPr/>
          <p:nvPr/>
        </p:nvSpPr>
        <p:spPr>
          <a:xfrm>
            <a:off x="3527954" y="4491503"/>
            <a:ext cx="1550458" cy="416520"/>
          </a:xfrm>
          <a:prstGeom prst="roundRect">
            <a:avLst>
              <a:gd name="adj" fmla="val 50000"/>
            </a:avLst>
          </a:prstGeom>
          <a:solidFill>
            <a:srgbClr val="E4F1EF"/>
          </a:solidFill>
          <a:ln/>
        </p:spPr>
        <p:txBody>
          <a:bodyPr wrap="none" lIns="0" tIns="0" rIns="0" bIns="0" rtlCol="0" anchor="ctr">
            <a:normAutofit/>
          </a:bodyPr>
          <a:lstStyle/>
          <a:p>
            <a:pPr algn="ctr" indent="0" marL="0">
              <a:lnSpc>
                <a:spcPts val="1680"/>
              </a:lnSpc>
              <a:buNone/>
            </a:pPr>
            <a:r>
              <a:rPr lang="en-US" sz="1200" b="1" dirty="0">
                <a:solidFill>
                  <a:srgbClr val="0A2350"/>
                </a:solidFill>
                <a:latin typeface="Figtree" pitchFamily="34" charset="0"/>
                <a:ea typeface="Figtree" pitchFamily="34" charset="-122"/>
                <a:cs typeface="Figtree" pitchFamily="34" charset="-120"/>
              </a:rPr>
              <a:t>JWT login tokens</a:t>
            </a:r>
            <a:endParaRPr lang="en-US" sz="1200" dirty="0">
              <a:latin typeface="Figtree" charset="0"/>
              <a:ea typeface="Figtree" charset="0"/>
              <a:cs typeface="Figtree" charset="0"/>
            </a:endParaRPr>
          </a:p>
        </p:txBody>
      </p:sp>
      <p:sp>
        <p:nvSpPr>
          <p:cNvPr id="18" name="Text 13"/>
          <p:cNvSpPr/>
          <p:nvPr/>
        </p:nvSpPr>
        <p:spPr>
          <a:xfrm>
            <a:off x="5205413" y="4491503"/>
            <a:ext cx="2942894" cy="416520"/>
          </a:xfrm>
          <a:prstGeom prst="roundRect">
            <a:avLst>
              <a:gd name="adj" fmla="val 50000"/>
            </a:avLst>
          </a:prstGeom>
          <a:solidFill>
            <a:srgbClr val="E4F1EF"/>
          </a:solidFill>
          <a:ln/>
        </p:spPr>
        <p:txBody>
          <a:bodyPr wrap="none" lIns="0" tIns="0" rIns="0" bIns="0" rtlCol="0" anchor="ctr">
            <a:normAutofit/>
          </a:bodyPr>
          <a:lstStyle/>
          <a:p>
            <a:pPr algn="ctr" indent="0" marL="0">
              <a:lnSpc>
                <a:spcPts val="1680"/>
              </a:lnSpc>
              <a:buNone/>
            </a:pPr>
            <a:r>
              <a:rPr lang="en-US" sz="1200" b="1" dirty="0">
                <a:solidFill>
                  <a:srgbClr val="0A2350"/>
                </a:solidFill>
                <a:latin typeface="Figtree" pitchFamily="34" charset="0"/>
                <a:ea typeface="Figtree" pitchFamily="34" charset="-122"/>
                <a:cs typeface="Figtree" pitchFamily="34" charset="-120"/>
              </a:rPr>
              <a:t>Forgot and reset password endpoints</a:t>
            </a:r>
            <a:endParaRPr lang="en-US" sz="1200" dirty="0">
              <a:latin typeface="Figtree" charset="0"/>
              <a:ea typeface="Figtree" charset="0"/>
              <a:cs typeface="Figtree" charset="0"/>
            </a:endParaRPr>
          </a:p>
        </p:txBody>
      </p:sp>
      <p:sp>
        <p:nvSpPr>
          <p:cNvPr id="19" name="Text 1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Nexmove · Team B</a:t>
            </a:r>
            <a:endParaRPr lang="en-US" sz="1200" dirty="0">
              <a:latin typeface="Figtree" charset="0"/>
              <a:ea typeface="Figtree" charset="0"/>
              <a:cs typeface="Figtree" charset="0"/>
            </a:endParaRPr>
          </a:p>
        </p:txBody>
      </p:sp>
      <p:sp>
        <p:nvSpPr>
          <p:cNvPr id="20"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85F"/>
                </a:solidFill>
                <a:latin typeface="Figtree" pitchFamily="34" charset="0"/>
                <a:ea typeface="Figtree" pitchFamily="34" charset="-122"/>
                <a:cs typeface="Figtree" pitchFamily="34" charset="-120"/>
              </a:rPr>
              <a:t>06</a:t>
            </a:r>
            <a:endParaRPr lang="en-US" sz="1200" dirty="0">
              <a:latin typeface="Figtree" charset="0"/>
              <a:ea typeface="Figtree" charset="0"/>
              <a:cs typeface="Figtree"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4F1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B74"/>
                </a:solidFill>
                <a:latin typeface="Figtree" pitchFamily="34" charset="0"/>
                <a:ea typeface="Figtree" pitchFamily="34" charset="-122"/>
                <a:cs typeface="Figtree" pitchFamily="34" charset="-120"/>
              </a:rPr>
              <a:t>AI FEATURES</a:t>
            </a:r>
            <a:endParaRPr lang="en-US" sz="1200" dirty="0">
              <a:latin typeface="Figtree" charset="0"/>
              <a:ea typeface="Figtree" charset="0"/>
              <a:cs typeface="Figtree" charset="0"/>
            </a:endParaRPr>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A2350"/>
                </a:solidFill>
                <a:latin typeface="Instrument Serif" pitchFamily="18" charset="0"/>
                <a:ea typeface="Instrument Serif" pitchFamily="18" charset="-122"/>
                <a:cs typeface="Instrument Serif" pitchFamily="18" charset="-120"/>
              </a:rPr>
              <a:t>AI features built around patient safety</a:t>
            </a:r>
            <a:endParaRPr lang="en-US" sz="3200" dirty="0">
              <a:latin typeface="Instrument Serif" charset="0"/>
              <a:ea typeface="Instrument Serif" charset="0"/>
              <a:cs typeface="Instrument Serif" charset="0"/>
            </a:endParaRPr>
          </a:p>
        </p:txBody>
      </p:sp>
      <p:sp>
        <p:nvSpPr>
          <p:cNvPr id="4" name="Shape 2"/>
          <p:cNvSpPr/>
          <p:nvPr/>
        </p:nvSpPr>
        <p:spPr>
          <a:xfrm>
            <a:off x="815975" y="1831910"/>
            <a:ext cx="5175250" cy="2599267"/>
          </a:xfrm>
          <a:prstGeom prst="roundRect">
            <a:avLst>
              <a:gd name="adj" fmla="val 4764"/>
            </a:avLst>
          </a:prstGeom>
          <a:solidFill>
            <a:srgbClr val="FBFDFC"/>
          </a:solidFill>
          <a:ln w="6350">
            <a:solidFill>
              <a:srgbClr val="CFE0DC"/>
            </a:solidFill>
            <a:prstDash val="solid"/>
          </a:ln>
        </p:spPr>
      </p:sp>
      <p:pic>
        <p:nvPicPr>
          <p:cNvPr id="5" name="Image 0" descr="Chat">    </p:cNvPr>
          <p:cNvPicPr>
            <a:picLocks noChangeAspect="1"/>
          </p:cNvPicPr>
          <p:nvPr/>
        </p:nvPicPr>
        <p:blipFill>
          <a:blip r:embed="rId1"/>
          <a:srcRect l="0" r="0" t="0" b="0"/>
          <a:stretch/>
        </p:blipFill>
        <p:spPr>
          <a:xfrm>
            <a:off x="1071033" y="2099667"/>
            <a:ext cx="279400" cy="279400"/>
          </a:xfrm>
          <a:prstGeom prst="rect">
            <a:avLst/>
          </a:prstGeom>
        </p:spPr>
      </p:pic>
      <p:sp>
        <p:nvSpPr>
          <p:cNvPr id="6" name="Text 3"/>
          <p:cNvSpPr/>
          <p:nvPr/>
        </p:nvSpPr>
        <p:spPr>
          <a:xfrm>
            <a:off x="1452033" y="2086967"/>
            <a:ext cx="1541701"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0A2350"/>
                </a:solidFill>
                <a:latin typeface="Instrument Serif" pitchFamily="18" charset="0"/>
                <a:ea typeface="Instrument Serif" pitchFamily="18" charset="-122"/>
                <a:cs typeface="Instrument Serif" pitchFamily="18" charset="-120"/>
              </a:rPr>
              <a:t>Clinic assistant</a:t>
            </a:r>
            <a:endParaRPr lang="en-US" sz="2000" dirty="0">
              <a:latin typeface="Instrument Serif" charset="0"/>
              <a:ea typeface="Instrument Serif" charset="0"/>
              <a:cs typeface="Instrument Serif" charset="0"/>
            </a:endParaRPr>
          </a:p>
        </p:txBody>
      </p:sp>
      <p:sp>
        <p:nvSpPr>
          <p:cNvPr id="7" name="Text 4"/>
          <p:cNvSpPr/>
          <p:nvPr/>
        </p:nvSpPr>
        <p:spPr>
          <a:xfrm>
            <a:off x="1148503" y="2518767"/>
            <a:ext cx="4719997" cy="1682750"/>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46585F"/>
                </a:solidFill>
                <a:latin typeface="Figtree" pitchFamily="34" charset="0"/>
                <a:ea typeface="Figtree" pitchFamily="34" charset="-122"/>
                <a:cs typeface="Figtree" pitchFamily="34" charset="-120"/>
              </a:rPr>
              <a:t>Answers only from verified clinic facts</a:t>
            </a:r>
            <a:endParaRPr lang="en-US" sz="1500" dirty="0">
              <a:latin typeface="Figtree" charset="0"/>
              <a:ea typeface="Figtree" charset="0"/>
              <a:cs typeface="Figtree" charset="0"/>
            </a:endParaRPr>
          </a:p>
          <a:p>
            <a:pPr algn="l" marL="176530" indent="-176530">
              <a:lnSpc>
                <a:spcPts val="2175"/>
              </a:lnSpc>
              <a:buSzPct val="100000"/>
              <a:buChar char="•"/>
            </a:pPr>
            <a:r>
              <a:rPr lang="en-US" sz="1500" dirty="0">
                <a:solidFill>
                  <a:srgbClr val="46585F"/>
                </a:solidFill>
                <a:latin typeface="Figtree" pitchFamily="34" charset="0"/>
                <a:ea typeface="Figtree" pitchFamily="34" charset="-122"/>
                <a:cs typeface="Figtree" pitchFamily="34" charset="-120"/>
              </a:rPr>
              <a:t>Never diagnoses, prescribes or gives medical advice</a:t>
            </a:r>
            <a:endParaRPr lang="en-US" sz="1500" dirty="0">
              <a:latin typeface="Figtree" charset="0"/>
              <a:ea typeface="Figtree" charset="0"/>
              <a:cs typeface="Figtree" charset="0"/>
            </a:endParaRPr>
          </a:p>
          <a:p>
            <a:pPr algn="l" marL="176530" indent="-176530">
              <a:lnSpc>
                <a:spcPts val="2175"/>
              </a:lnSpc>
              <a:buSzPct val="100000"/>
              <a:buChar char="•"/>
            </a:pPr>
            <a:r>
              <a:rPr lang="en-US" sz="1500" dirty="0">
                <a:solidFill>
                  <a:srgbClr val="46585F"/>
                </a:solidFill>
                <a:latin typeface="Figtree" pitchFamily="34" charset="0"/>
                <a:ea typeface="Figtree" pitchFamily="34" charset="-122"/>
                <a:cs typeface="Figtree" pitchFamily="34" charset="-120"/>
              </a:rPr>
              <a:t>Urgent words such as chest pain trigger emergency advice (Rescue 1122) instead of an AI answer</a:t>
            </a:r>
            <a:endParaRPr lang="en-US" sz="1500" dirty="0">
              <a:latin typeface="Figtree" charset="0"/>
              <a:ea typeface="Figtree" charset="0"/>
              <a:cs typeface="Figtree" charset="0"/>
            </a:endParaRPr>
          </a:p>
          <a:p>
            <a:pPr algn="l" marL="176530" indent="-176530">
              <a:lnSpc>
                <a:spcPts val="2175"/>
              </a:lnSpc>
              <a:buSzPct val="100000"/>
              <a:buChar char="•"/>
            </a:pPr>
            <a:r>
              <a:rPr lang="en-US" sz="1500" dirty="0">
                <a:solidFill>
                  <a:srgbClr val="46585F"/>
                </a:solidFill>
                <a:latin typeface="Figtree" pitchFamily="34" charset="0"/>
                <a:ea typeface="Figtree" pitchFamily="34" charset="-122"/>
                <a:cs typeface="Figtree" pitchFamily="34" charset="-120"/>
              </a:rPr>
              <a:t>Limited to 20 messages per hour per visitor</a:t>
            </a:r>
            <a:endParaRPr lang="en-US" sz="1500" dirty="0">
              <a:latin typeface="Figtree" charset="0"/>
              <a:ea typeface="Figtree" charset="0"/>
              <a:cs typeface="Figtree" charset="0"/>
            </a:endParaRPr>
          </a:p>
        </p:txBody>
      </p:sp>
      <p:sp>
        <p:nvSpPr>
          <p:cNvPr id="8" name="Shape 5"/>
          <p:cNvSpPr/>
          <p:nvPr/>
        </p:nvSpPr>
        <p:spPr>
          <a:xfrm>
            <a:off x="6200775" y="1831910"/>
            <a:ext cx="5175250" cy="2599267"/>
          </a:xfrm>
          <a:prstGeom prst="roundRect">
            <a:avLst>
              <a:gd name="adj" fmla="val 4764"/>
            </a:avLst>
          </a:prstGeom>
          <a:solidFill>
            <a:srgbClr val="FBFDFC"/>
          </a:solidFill>
          <a:ln w="6350">
            <a:solidFill>
              <a:srgbClr val="CFE0DC"/>
            </a:solidFill>
            <a:prstDash val="solid"/>
          </a:ln>
        </p:spPr>
      </p:sp>
      <p:pic>
        <p:nvPicPr>
          <p:cNvPr id="9" name="Image 1" descr="Activity">    </p:cNvPr>
          <p:cNvPicPr>
            <a:picLocks noChangeAspect="1"/>
          </p:cNvPicPr>
          <p:nvPr/>
        </p:nvPicPr>
        <p:blipFill>
          <a:blip r:embed="rId2"/>
          <a:srcRect l="0" r="0" t="0" b="0"/>
          <a:stretch/>
        </p:blipFill>
        <p:spPr>
          <a:xfrm>
            <a:off x="6455833" y="2099667"/>
            <a:ext cx="279400" cy="279400"/>
          </a:xfrm>
          <a:prstGeom prst="rect">
            <a:avLst/>
          </a:prstGeom>
        </p:spPr>
      </p:pic>
      <p:sp>
        <p:nvSpPr>
          <p:cNvPr id="10" name="Text 6"/>
          <p:cNvSpPr/>
          <p:nvPr/>
        </p:nvSpPr>
        <p:spPr>
          <a:xfrm>
            <a:off x="6836834" y="2086967"/>
            <a:ext cx="1672749"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0A2350"/>
                </a:solidFill>
                <a:latin typeface="Instrument Serif" pitchFamily="18" charset="0"/>
                <a:ea typeface="Instrument Serif" pitchFamily="18" charset="-122"/>
                <a:cs typeface="Instrument Serif" pitchFamily="18" charset="-120"/>
              </a:rPr>
              <a:t>Pain assessment</a:t>
            </a:r>
            <a:endParaRPr lang="en-US" sz="2000" dirty="0">
              <a:latin typeface="Instrument Serif" charset="0"/>
              <a:ea typeface="Instrument Serif" charset="0"/>
              <a:cs typeface="Instrument Serif" charset="0"/>
            </a:endParaRPr>
          </a:p>
        </p:txBody>
      </p:sp>
      <p:sp>
        <p:nvSpPr>
          <p:cNvPr id="11" name="Text 7"/>
          <p:cNvSpPr/>
          <p:nvPr/>
        </p:nvSpPr>
        <p:spPr>
          <a:xfrm>
            <a:off x="6533303" y="2518767"/>
            <a:ext cx="4719997" cy="1406525"/>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46585F"/>
                </a:solidFill>
                <a:latin typeface="Figtree" pitchFamily="34" charset="0"/>
                <a:ea typeface="Figtree" pitchFamily="34" charset="-122"/>
                <a:cs typeface="Figtree" pitchFamily="34" charset="-120"/>
              </a:rPr>
              <a:t>Body map to pick the painful areas</a:t>
            </a:r>
            <a:endParaRPr lang="en-US" sz="1500" dirty="0">
              <a:latin typeface="Figtree" charset="0"/>
              <a:ea typeface="Figtree" charset="0"/>
              <a:cs typeface="Figtree" charset="0"/>
            </a:endParaRPr>
          </a:p>
          <a:p>
            <a:pPr algn="l" marL="176530" indent="-176530">
              <a:lnSpc>
                <a:spcPts val="2175"/>
              </a:lnSpc>
              <a:buSzPct val="100000"/>
              <a:buChar char="•"/>
            </a:pPr>
            <a:r>
              <a:rPr lang="en-US" sz="1500" dirty="0">
                <a:solidFill>
                  <a:srgbClr val="46585F"/>
                </a:solidFill>
                <a:latin typeface="Figtree" pitchFamily="34" charset="0"/>
                <a:ea typeface="Figtree" pitchFamily="34" charset="-122"/>
                <a:cs typeface="Figtree" pitchFamily="34" charset="-120"/>
              </a:rPr>
              <a:t>Pain level 0 to 10, duration and what makes it worse</a:t>
            </a:r>
            <a:endParaRPr lang="en-US" sz="1500" dirty="0">
              <a:latin typeface="Figtree" charset="0"/>
              <a:ea typeface="Figtree" charset="0"/>
              <a:cs typeface="Figtree" charset="0"/>
            </a:endParaRPr>
          </a:p>
          <a:p>
            <a:pPr algn="l" marL="176530" indent="-176530">
              <a:lnSpc>
                <a:spcPts val="2175"/>
              </a:lnSpc>
              <a:buSzPct val="100000"/>
              <a:buChar char="•"/>
            </a:pPr>
            <a:r>
              <a:rPr lang="en-US" sz="1500" dirty="0">
                <a:solidFill>
                  <a:srgbClr val="46585F"/>
                </a:solidFill>
                <a:latin typeface="Figtree" pitchFamily="34" charset="0"/>
                <a:ea typeface="Figtree" pitchFamily="34" charset="-122"/>
                <a:cs typeface="Figtree" pitchFamily="34" charset="-120"/>
              </a:rPr>
              <a:t>Recent injury, surgery and red-flag questions</a:t>
            </a:r>
            <a:endParaRPr lang="en-US" sz="1500" dirty="0">
              <a:latin typeface="Figtree" charset="0"/>
              <a:ea typeface="Figtree" charset="0"/>
              <a:cs typeface="Figtree" charset="0"/>
            </a:endParaRPr>
          </a:p>
          <a:p>
            <a:pPr algn="l" marL="176530" indent="-176530">
              <a:lnSpc>
                <a:spcPts val="2175"/>
              </a:lnSpc>
              <a:buSzPct val="100000"/>
              <a:buChar char="•"/>
            </a:pPr>
            <a:r>
              <a:rPr lang="en-US" sz="1500" dirty="0">
                <a:solidFill>
                  <a:srgbClr val="46585F"/>
                </a:solidFill>
                <a:latin typeface="Figtree" pitchFamily="34" charset="0"/>
                <a:ea typeface="Figtree" pitchFamily="34" charset="-122"/>
                <a:cs typeface="Figtree" pitchFamily="34" charset="-120"/>
              </a:rPr>
              <a:t>Shows an urgent warning and related topics. It is guidance, not a diagnosis</a:t>
            </a:r>
            <a:endParaRPr lang="en-US" sz="1500" dirty="0">
              <a:latin typeface="Figtree" charset="0"/>
              <a:ea typeface="Figtree" charset="0"/>
              <a:cs typeface="Figtree" charset="0"/>
            </a:endParaRPr>
          </a:p>
        </p:txBody>
      </p:sp>
      <p:sp>
        <p:nvSpPr>
          <p:cNvPr id="12" name="Text 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Nexmove · Team B</a:t>
            </a:r>
            <a:endParaRPr lang="en-US" sz="1200" dirty="0">
              <a:latin typeface="Figtree" charset="0"/>
              <a:ea typeface="Figtree" charset="0"/>
              <a:cs typeface="Figtree" charset="0"/>
            </a:endParaRPr>
          </a:p>
        </p:txBody>
      </p:sp>
      <p:sp>
        <p:nvSpPr>
          <p:cNvPr id="13"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85F"/>
                </a:solidFill>
                <a:latin typeface="Figtree" pitchFamily="34" charset="0"/>
                <a:ea typeface="Figtree" pitchFamily="34" charset="-122"/>
                <a:cs typeface="Figtree" pitchFamily="34" charset="-120"/>
              </a:rPr>
              <a:t>07</a:t>
            </a:r>
            <a:endParaRPr lang="en-US" sz="1200" dirty="0">
              <a:latin typeface="Figtree" charset="0"/>
              <a:ea typeface="Figtree" charset="0"/>
              <a:cs typeface="Figtree"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B74"/>
                </a:solidFill>
                <a:latin typeface="Figtree" pitchFamily="34" charset="0"/>
                <a:ea typeface="Figtree" pitchFamily="34" charset="-122"/>
                <a:cs typeface="Figtree" pitchFamily="34" charset="-120"/>
              </a:rPr>
              <a:t>ADMIN AREA</a:t>
            </a:r>
            <a:endParaRPr lang="en-US" sz="1200" dirty="0">
              <a:latin typeface="Figtree" charset="0"/>
              <a:ea typeface="Figtree" charset="0"/>
              <a:cs typeface="Figtree" charset="0"/>
            </a:endParaRPr>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A2350"/>
                </a:solidFill>
                <a:latin typeface="Instrument Serif" pitchFamily="18" charset="0"/>
                <a:ea typeface="Instrument Serif" pitchFamily="18" charset="-122"/>
                <a:cs typeface="Instrument Serif" pitchFamily="18" charset="-120"/>
              </a:rPr>
              <a:t>A protected area for clinic staff</a:t>
            </a:r>
            <a:endParaRPr lang="en-US" sz="3200" dirty="0">
              <a:latin typeface="Instrument Serif" charset="0"/>
              <a:ea typeface="Instrument Serif" charset="0"/>
              <a:cs typeface="Instrument Serif" charset="0"/>
            </a:endParaRPr>
          </a:p>
        </p:txBody>
      </p:sp>
      <p:sp>
        <p:nvSpPr>
          <p:cNvPr id="4" name="Shape 2"/>
          <p:cNvSpPr/>
          <p:nvPr/>
        </p:nvSpPr>
        <p:spPr>
          <a:xfrm>
            <a:off x="815975" y="1831910"/>
            <a:ext cx="5175250" cy="2046817"/>
          </a:xfrm>
          <a:prstGeom prst="roundRect">
            <a:avLst>
              <a:gd name="adj" fmla="val 6050"/>
            </a:avLst>
          </a:prstGeom>
          <a:solidFill>
            <a:srgbClr val="FBFDFC"/>
          </a:solidFill>
          <a:ln w="6350">
            <a:solidFill>
              <a:srgbClr val="D3E1DE"/>
            </a:solidFill>
            <a:prstDash val="solid"/>
          </a:ln>
        </p:spPr>
      </p:sp>
      <p:sp>
        <p:nvSpPr>
          <p:cNvPr id="5" name="Text 3"/>
          <p:cNvSpPr/>
          <p:nvPr/>
        </p:nvSpPr>
        <p:spPr>
          <a:xfrm>
            <a:off x="1071033" y="2086967"/>
            <a:ext cx="4805087"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0A2350"/>
                </a:solidFill>
                <a:latin typeface="Instrument Serif" pitchFamily="18" charset="0"/>
                <a:ea typeface="Instrument Serif" pitchFamily="18" charset="-122"/>
                <a:cs typeface="Instrument Serif" pitchFamily="18" charset="-120"/>
              </a:rPr>
              <a:t>Working now</a:t>
            </a:r>
            <a:endParaRPr lang="en-US" sz="2000" dirty="0">
              <a:latin typeface="Instrument Serif" charset="0"/>
              <a:ea typeface="Instrument Serif" charset="0"/>
              <a:cs typeface="Instrument Serif" charset="0"/>
            </a:endParaRPr>
          </a:p>
        </p:txBody>
      </p:sp>
      <p:sp>
        <p:nvSpPr>
          <p:cNvPr id="6" name="Text 4"/>
          <p:cNvSpPr/>
          <p:nvPr/>
        </p:nvSpPr>
        <p:spPr>
          <a:xfrm>
            <a:off x="1148503" y="2518767"/>
            <a:ext cx="4719997" cy="854075"/>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46585F"/>
                </a:solidFill>
                <a:latin typeface="Figtree" pitchFamily="34" charset="0"/>
                <a:ea typeface="Figtree" pitchFamily="34" charset="-122"/>
                <a:cs typeface="Figtree" pitchFamily="34" charset="-120"/>
              </a:rPr>
              <a:t>Admin area behind login and a role check</a:t>
            </a:r>
            <a:endParaRPr lang="en-US" sz="1500" dirty="0">
              <a:latin typeface="Figtree" charset="0"/>
              <a:ea typeface="Figtree" charset="0"/>
              <a:cs typeface="Figtree" charset="0"/>
            </a:endParaRPr>
          </a:p>
          <a:p>
            <a:pPr algn="l" marL="176530" indent="-176530">
              <a:lnSpc>
                <a:spcPts val="2175"/>
              </a:lnSpc>
              <a:buSzPct val="100000"/>
              <a:buChar char="•"/>
            </a:pPr>
            <a:r>
              <a:rPr lang="en-US" sz="1500" dirty="0">
                <a:solidFill>
                  <a:srgbClr val="46585F"/>
                </a:solidFill>
                <a:latin typeface="Figtree" pitchFamily="34" charset="0"/>
                <a:ea typeface="Figtree" pitchFamily="34" charset="-122"/>
                <a:cs typeface="Figtree" pitchFamily="34" charset="-120"/>
              </a:rPr>
              <a:t>Dashboard with the count of new messages</a:t>
            </a:r>
            <a:endParaRPr lang="en-US" sz="1500" dirty="0">
              <a:latin typeface="Figtree" charset="0"/>
              <a:ea typeface="Figtree" charset="0"/>
              <a:cs typeface="Figtree" charset="0"/>
            </a:endParaRPr>
          </a:p>
          <a:p>
            <a:pPr algn="l" marL="176530" indent="-176530">
              <a:lnSpc>
                <a:spcPts val="2175"/>
              </a:lnSpc>
              <a:buSzPct val="100000"/>
              <a:buChar char="•"/>
            </a:pPr>
            <a:r>
              <a:rPr lang="en-US" sz="1500" dirty="0">
                <a:solidFill>
                  <a:srgbClr val="46585F"/>
                </a:solidFill>
                <a:latin typeface="Figtree" pitchFamily="34" charset="0"/>
                <a:ea typeface="Figtree" pitchFamily="34" charset="-122"/>
                <a:cs typeface="Figtree" pitchFamily="34" charset="-120"/>
              </a:rPr>
              <a:t>Messages inbox: mark read, mark replied, delete</a:t>
            </a:r>
            <a:endParaRPr lang="en-US" sz="1500" dirty="0">
              <a:latin typeface="Figtree" charset="0"/>
              <a:ea typeface="Figtree" charset="0"/>
              <a:cs typeface="Figtree" charset="0"/>
            </a:endParaRPr>
          </a:p>
        </p:txBody>
      </p:sp>
      <p:sp>
        <p:nvSpPr>
          <p:cNvPr id="7" name="Shape 5"/>
          <p:cNvSpPr/>
          <p:nvPr/>
        </p:nvSpPr>
        <p:spPr>
          <a:xfrm>
            <a:off x="6200775" y="1831910"/>
            <a:ext cx="5175250" cy="2046817"/>
          </a:xfrm>
          <a:prstGeom prst="roundRect">
            <a:avLst>
              <a:gd name="adj" fmla="val 6050"/>
            </a:avLst>
          </a:prstGeom>
          <a:solidFill>
            <a:srgbClr val="FBFDFC"/>
          </a:solidFill>
          <a:ln w="6350">
            <a:solidFill>
              <a:srgbClr val="D3E1DE"/>
            </a:solidFill>
            <a:prstDash val="solid"/>
          </a:ln>
        </p:spPr>
      </p:sp>
      <p:sp>
        <p:nvSpPr>
          <p:cNvPr id="8" name="Text 6"/>
          <p:cNvSpPr/>
          <p:nvPr/>
        </p:nvSpPr>
        <p:spPr>
          <a:xfrm>
            <a:off x="6455833" y="2086967"/>
            <a:ext cx="4805087"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0A2350"/>
                </a:solidFill>
                <a:latin typeface="Instrument Serif" pitchFamily="18" charset="0"/>
                <a:ea typeface="Instrument Serif" pitchFamily="18" charset="-122"/>
                <a:cs typeface="Instrument Serif" pitchFamily="18" charset="-120"/>
              </a:rPr>
              <a:t>Admin-only endpoints on the server</a:t>
            </a:r>
            <a:endParaRPr lang="en-US" sz="2000" dirty="0">
              <a:latin typeface="Instrument Serif" charset="0"/>
              <a:ea typeface="Instrument Serif" charset="0"/>
              <a:cs typeface="Instrument Serif" charset="0"/>
            </a:endParaRPr>
          </a:p>
        </p:txBody>
      </p:sp>
      <p:sp>
        <p:nvSpPr>
          <p:cNvPr id="9" name="Text 7"/>
          <p:cNvSpPr/>
          <p:nvPr/>
        </p:nvSpPr>
        <p:spPr>
          <a:xfrm>
            <a:off x="6533303" y="2518767"/>
            <a:ext cx="4719997" cy="1130300"/>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46585F"/>
                </a:solidFill>
                <a:latin typeface="Figtree" pitchFamily="34" charset="0"/>
                <a:ea typeface="Figtree" pitchFamily="34" charset="-122"/>
                <a:cs typeface="Figtree" pitchFamily="34" charset="-120"/>
              </a:rPr>
              <a:t>Services: create, update and deactivate</a:t>
            </a:r>
            <a:endParaRPr lang="en-US" sz="1500" dirty="0">
              <a:latin typeface="Figtree" charset="0"/>
              <a:ea typeface="Figtree" charset="0"/>
              <a:cs typeface="Figtree" charset="0"/>
            </a:endParaRPr>
          </a:p>
          <a:p>
            <a:pPr algn="l" marL="176530" indent="-176530">
              <a:lnSpc>
                <a:spcPts val="2175"/>
              </a:lnSpc>
              <a:buSzPct val="100000"/>
              <a:buChar char="•"/>
            </a:pPr>
            <a:r>
              <a:rPr lang="en-US" sz="1500" dirty="0">
                <a:solidFill>
                  <a:srgbClr val="46585F"/>
                </a:solidFill>
                <a:latin typeface="Figtree" pitchFamily="34" charset="0"/>
                <a:ea typeface="Figtree" pitchFamily="34" charset="-122"/>
                <a:cs typeface="Figtree" pitchFamily="34" charset="-120"/>
              </a:rPr>
              <a:t>Therapists: create and update</a:t>
            </a:r>
            <a:endParaRPr lang="en-US" sz="1500" dirty="0">
              <a:latin typeface="Figtree" charset="0"/>
              <a:ea typeface="Figtree" charset="0"/>
              <a:cs typeface="Figtree" charset="0"/>
            </a:endParaRPr>
          </a:p>
          <a:p>
            <a:pPr algn="l" marL="176530" indent="-176530">
              <a:lnSpc>
                <a:spcPts val="2175"/>
              </a:lnSpc>
              <a:buSzPct val="100000"/>
              <a:buChar char="•"/>
            </a:pPr>
            <a:r>
              <a:rPr lang="en-US" sz="1500" dirty="0">
                <a:solidFill>
                  <a:srgbClr val="46585F"/>
                </a:solidFill>
                <a:latin typeface="Figtree" pitchFamily="34" charset="0"/>
                <a:ea typeface="Figtree" pitchFamily="34" charset="-122"/>
                <a:cs typeface="Figtree" pitchFamily="34" charset="-120"/>
              </a:rPr>
              <a:t>Packages, holidays and contact messages</a:t>
            </a:r>
            <a:endParaRPr lang="en-US" sz="1500" dirty="0">
              <a:latin typeface="Figtree" charset="0"/>
              <a:ea typeface="Figtree" charset="0"/>
              <a:cs typeface="Figtree" charset="0"/>
            </a:endParaRPr>
          </a:p>
          <a:p>
            <a:pPr algn="l" marL="176530" indent="-176530">
              <a:lnSpc>
                <a:spcPts val="2175"/>
              </a:lnSpc>
              <a:buSzPct val="100000"/>
              <a:buChar char="•"/>
            </a:pPr>
            <a:r>
              <a:rPr lang="en-US" sz="1500" dirty="0">
                <a:solidFill>
                  <a:srgbClr val="46585F"/>
                </a:solidFill>
                <a:latin typeface="Figtree" pitchFamily="34" charset="0"/>
                <a:ea typeface="Figtree" pitchFamily="34" charset="-122"/>
                <a:cs typeface="Figtree" pitchFamily="34" charset="-120"/>
              </a:rPr>
              <a:t>Reviews: approve before they appear publicly</a:t>
            </a:r>
            <a:endParaRPr lang="en-US" sz="1500" dirty="0">
              <a:latin typeface="Figtree" charset="0"/>
              <a:ea typeface="Figtree" charset="0"/>
              <a:cs typeface="Figtree" charset="0"/>
            </a:endParaRPr>
          </a:p>
        </p:txBody>
      </p:sp>
      <p:sp>
        <p:nvSpPr>
          <p:cNvPr id="10" name="Text 8"/>
          <p:cNvSpPr/>
          <p:nvPr/>
        </p:nvSpPr>
        <p:spPr>
          <a:xfrm>
            <a:off x="812800" y="4161303"/>
            <a:ext cx="10160000" cy="571500"/>
          </a:xfrm>
          <a:prstGeom prst="roundRect">
            <a:avLst>
              <a:gd name="adj" fmla="val 17778"/>
            </a:avLst>
          </a:prstGeom>
          <a:solidFill>
            <a:srgbClr val="16848E"/>
          </a:solidFill>
          <a:ln/>
        </p:spPr>
        <p:txBody>
          <a:bodyPr wrap="square" lIns="173442" tIns="122642" rIns="0" bIns="97242" rtlCol="0" anchor="t">
            <a:normAutofit/>
          </a:bodyPr>
          <a:lstStyle/>
          <a:p>
            <a:pPr algn="l" indent="0" marL="0">
              <a:lnSpc>
                <a:spcPts val="2100"/>
              </a:lnSpc>
              <a:buNone/>
            </a:pPr>
            <a:r>
              <a:rPr lang="en-US" sz="1500" b="1" dirty="0">
                <a:solidFill>
                  <a:srgbClr val="F1F6F5"/>
                </a:solidFill>
                <a:latin typeface="Figtree" pitchFamily="34" charset="0"/>
                <a:ea typeface="Figtree" pitchFamily="34" charset="-122"/>
                <a:cs typeface="Figtree" pitchFamily="34" charset="-120"/>
              </a:rPr>
              <a:t>Next:</a:t>
            </a:r>
            <a:r>
              <a:rPr lang="en-US" sz="1500" dirty="0">
                <a:solidFill>
                  <a:srgbClr val="F1F6F5"/>
                </a:solidFill>
                <a:latin typeface="Figtree" pitchFamily="34" charset="0"/>
                <a:ea typeface="Figtree" pitchFamily="34" charset="-122"/>
                <a:cs typeface="Figtree" pitchFamily="34" charset="-120"/>
              </a:rPr>
              <a:t> management screens for appointments, services, therapists and review moderation.</a:t>
            </a:r>
            <a:endParaRPr lang="en-US" sz="1500" dirty="0">
              <a:latin typeface="Figtree" charset="0"/>
              <a:ea typeface="Figtree" charset="0"/>
              <a:cs typeface="Figtree" charset="0"/>
            </a:endParaRPr>
          </a:p>
        </p:txBody>
      </p:sp>
      <p:sp>
        <p:nvSpPr>
          <p:cNvPr id="11" name="Text 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Nexmove · Team B</a:t>
            </a:r>
            <a:endParaRPr lang="en-US" sz="1200" dirty="0">
              <a:latin typeface="Figtree" charset="0"/>
              <a:ea typeface="Figtree" charset="0"/>
              <a:cs typeface="Figtree" charset="0"/>
            </a:endParaRPr>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85F"/>
                </a:solidFill>
                <a:latin typeface="Figtree" pitchFamily="34" charset="0"/>
                <a:ea typeface="Figtree" pitchFamily="34" charset="-122"/>
                <a:cs typeface="Figtree" pitchFamily="34" charset="-120"/>
              </a:rPr>
              <a:t>08</a:t>
            </a:r>
            <a:endParaRPr lang="en-US" sz="1200" dirty="0">
              <a:latin typeface="Figtree" charset="0"/>
              <a:ea typeface="Figtree" charset="0"/>
              <a:cs typeface="Figtree"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4F1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B74"/>
                </a:solidFill>
                <a:latin typeface="Figtree" pitchFamily="34" charset="0"/>
                <a:ea typeface="Figtree" pitchFamily="34" charset="-122"/>
                <a:cs typeface="Figtree" pitchFamily="34" charset="-120"/>
              </a:rPr>
              <a:t>SECURITY AND QUALITY</a:t>
            </a:r>
            <a:endParaRPr lang="en-US" sz="1200" dirty="0">
              <a:latin typeface="Figtree" charset="0"/>
              <a:ea typeface="Figtree" charset="0"/>
              <a:cs typeface="Figtree" charset="0"/>
            </a:endParaRPr>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A2350"/>
                </a:solidFill>
                <a:latin typeface="Instrument Serif" pitchFamily="18" charset="0"/>
                <a:ea typeface="Instrument Serif" pitchFamily="18" charset="-122"/>
                <a:cs typeface="Instrument Serif" pitchFamily="18" charset="-120"/>
              </a:rPr>
              <a:t>Security, privacy and quality</a:t>
            </a:r>
            <a:endParaRPr lang="en-US" sz="3200" dirty="0">
              <a:latin typeface="Instrument Serif" charset="0"/>
              <a:ea typeface="Instrument Serif" charset="0"/>
              <a:cs typeface="Instrument Serif" charset="0"/>
            </a:endParaRPr>
          </a:p>
        </p:txBody>
      </p:sp>
      <p:sp>
        <p:nvSpPr>
          <p:cNvPr id="4" name="Shape 2"/>
          <p:cNvSpPr/>
          <p:nvPr/>
        </p:nvSpPr>
        <p:spPr>
          <a:xfrm>
            <a:off x="815975" y="1831913"/>
            <a:ext cx="3414183" cy="1378678"/>
          </a:xfrm>
          <a:prstGeom prst="roundRect">
            <a:avLst>
              <a:gd name="adj" fmla="val 8981"/>
            </a:avLst>
          </a:prstGeom>
          <a:solidFill>
            <a:srgbClr val="FBFDFC"/>
          </a:solidFill>
          <a:ln w="6350">
            <a:solidFill>
              <a:srgbClr val="CFE0DC"/>
            </a:solidFill>
            <a:prstDash val="solid"/>
          </a:ln>
        </p:spPr>
      </p:sp>
      <p:sp>
        <p:nvSpPr>
          <p:cNvPr id="5" name="Text 3"/>
          <p:cNvSpPr/>
          <p:nvPr/>
        </p:nvSpPr>
        <p:spPr>
          <a:xfrm>
            <a:off x="1020233" y="2036167"/>
            <a:ext cx="30958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A2350"/>
                </a:solidFill>
                <a:latin typeface="Figtree" pitchFamily="34" charset="0"/>
                <a:ea typeface="Figtree" pitchFamily="34" charset="-122"/>
                <a:cs typeface="Figtree" pitchFamily="34" charset="-120"/>
              </a:rPr>
              <a:t>Role-based access</a:t>
            </a:r>
            <a:endParaRPr lang="en-US" sz="1500" dirty="0">
              <a:latin typeface="Figtree" charset="0"/>
              <a:ea typeface="Figtree" charset="0"/>
              <a:cs typeface="Figtree" charset="0"/>
            </a:endParaRPr>
          </a:p>
        </p:txBody>
      </p:sp>
      <p:sp>
        <p:nvSpPr>
          <p:cNvPr id="6" name="Text 4"/>
          <p:cNvSpPr/>
          <p:nvPr/>
        </p:nvSpPr>
        <p:spPr>
          <a:xfrm>
            <a:off x="1020233" y="2366367"/>
            <a:ext cx="30958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Patient, therapist and admin roles protect every private route.</a:t>
            </a:r>
            <a:endParaRPr lang="en-US" sz="1200" dirty="0">
              <a:latin typeface="Figtree" charset="0"/>
              <a:ea typeface="Figtree" charset="0"/>
              <a:cs typeface="Figtree" charset="0"/>
            </a:endParaRPr>
          </a:p>
        </p:txBody>
      </p:sp>
      <p:sp>
        <p:nvSpPr>
          <p:cNvPr id="7" name="Shape 5"/>
          <p:cNvSpPr/>
          <p:nvPr/>
        </p:nvSpPr>
        <p:spPr>
          <a:xfrm>
            <a:off x="4388908" y="1831913"/>
            <a:ext cx="3414183" cy="1378678"/>
          </a:xfrm>
          <a:prstGeom prst="roundRect">
            <a:avLst>
              <a:gd name="adj" fmla="val 8981"/>
            </a:avLst>
          </a:prstGeom>
          <a:solidFill>
            <a:srgbClr val="FBFDFC"/>
          </a:solidFill>
          <a:ln w="6350">
            <a:solidFill>
              <a:srgbClr val="CFE0DC"/>
            </a:solidFill>
            <a:prstDash val="solid"/>
          </a:ln>
        </p:spPr>
      </p:sp>
      <p:sp>
        <p:nvSpPr>
          <p:cNvPr id="8" name="Text 6"/>
          <p:cNvSpPr/>
          <p:nvPr/>
        </p:nvSpPr>
        <p:spPr>
          <a:xfrm>
            <a:off x="4593167" y="2036167"/>
            <a:ext cx="30958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A2350"/>
                </a:solidFill>
                <a:latin typeface="Figtree" pitchFamily="34" charset="0"/>
                <a:ea typeface="Figtree" pitchFamily="34" charset="-122"/>
                <a:cs typeface="Figtree" pitchFamily="34" charset="-120"/>
              </a:rPr>
              <a:t>Validated input</a:t>
            </a:r>
            <a:endParaRPr lang="en-US" sz="1500" dirty="0">
              <a:latin typeface="Figtree" charset="0"/>
              <a:ea typeface="Figtree" charset="0"/>
              <a:cs typeface="Figtree" charset="0"/>
            </a:endParaRPr>
          </a:p>
        </p:txBody>
      </p:sp>
      <p:sp>
        <p:nvSpPr>
          <p:cNvPr id="9" name="Text 7"/>
          <p:cNvSpPr/>
          <p:nvPr/>
        </p:nvSpPr>
        <p:spPr>
          <a:xfrm>
            <a:off x="4593167" y="2366367"/>
            <a:ext cx="309583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Zod schemas and server-side checks reject bad requests before they reach the database.</a:t>
            </a:r>
            <a:endParaRPr lang="en-US" sz="1200" dirty="0">
              <a:latin typeface="Figtree" charset="0"/>
              <a:ea typeface="Figtree" charset="0"/>
              <a:cs typeface="Figtree" charset="0"/>
            </a:endParaRPr>
          </a:p>
        </p:txBody>
      </p:sp>
      <p:sp>
        <p:nvSpPr>
          <p:cNvPr id="10" name="Shape 8"/>
          <p:cNvSpPr/>
          <p:nvPr/>
        </p:nvSpPr>
        <p:spPr>
          <a:xfrm>
            <a:off x="7961842" y="1831913"/>
            <a:ext cx="3414183" cy="1378678"/>
          </a:xfrm>
          <a:prstGeom prst="roundRect">
            <a:avLst>
              <a:gd name="adj" fmla="val 8981"/>
            </a:avLst>
          </a:prstGeom>
          <a:solidFill>
            <a:srgbClr val="FBFDFC"/>
          </a:solidFill>
          <a:ln w="6350">
            <a:solidFill>
              <a:srgbClr val="CFE0DC"/>
            </a:solidFill>
            <a:prstDash val="solid"/>
          </a:ln>
        </p:spPr>
      </p:sp>
      <p:sp>
        <p:nvSpPr>
          <p:cNvPr id="11" name="Text 9"/>
          <p:cNvSpPr/>
          <p:nvPr/>
        </p:nvSpPr>
        <p:spPr>
          <a:xfrm>
            <a:off x="8166100" y="2036167"/>
            <a:ext cx="30958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A2350"/>
                </a:solidFill>
                <a:latin typeface="Figtree" pitchFamily="34" charset="0"/>
                <a:ea typeface="Figtree" pitchFamily="34" charset="-122"/>
                <a:cs typeface="Figtree" pitchFamily="34" charset="-120"/>
              </a:rPr>
              <a:t>Rate limiting</a:t>
            </a:r>
            <a:endParaRPr lang="en-US" sz="1500" dirty="0">
              <a:latin typeface="Figtree" charset="0"/>
              <a:ea typeface="Figtree" charset="0"/>
              <a:cs typeface="Figtree" charset="0"/>
            </a:endParaRPr>
          </a:p>
        </p:txBody>
      </p:sp>
      <p:sp>
        <p:nvSpPr>
          <p:cNvPr id="12" name="Text 10"/>
          <p:cNvSpPr/>
          <p:nvPr/>
        </p:nvSpPr>
        <p:spPr>
          <a:xfrm>
            <a:off x="8166100" y="2366367"/>
            <a:ext cx="30958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The contact form, chat, booking and password reset all have request limits.</a:t>
            </a:r>
            <a:endParaRPr lang="en-US" sz="1200" dirty="0">
              <a:latin typeface="Figtree" charset="0"/>
              <a:ea typeface="Figtree" charset="0"/>
              <a:cs typeface="Figtree" charset="0"/>
            </a:endParaRPr>
          </a:p>
        </p:txBody>
      </p:sp>
      <p:sp>
        <p:nvSpPr>
          <p:cNvPr id="13" name="Shape 11"/>
          <p:cNvSpPr/>
          <p:nvPr/>
        </p:nvSpPr>
        <p:spPr>
          <a:xfrm>
            <a:off x="815975" y="3369339"/>
            <a:ext cx="3414183" cy="1378678"/>
          </a:xfrm>
          <a:prstGeom prst="roundRect">
            <a:avLst>
              <a:gd name="adj" fmla="val 8981"/>
            </a:avLst>
          </a:prstGeom>
          <a:solidFill>
            <a:srgbClr val="FBFDFC"/>
          </a:solidFill>
          <a:ln w="6350">
            <a:solidFill>
              <a:srgbClr val="CFE0DC"/>
            </a:solidFill>
            <a:prstDash val="solid"/>
          </a:ln>
        </p:spPr>
      </p:sp>
      <p:sp>
        <p:nvSpPr>
          <p:cNvPr id="14" name="Text 12"/>
          <p:cNvSpPr/>
          <p:nvPr/>
        </p:nvSpPr>
        <p:spPr>
          <a:xfrm>
            <a:off x="1020233" y="3573599"/>
            <a:ext cx="30958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A2350"/>
                </a:solidFill>
                <a:latin typeface="Figtree" pitchFamily="34" charset="0"/>
                <a:ea typeface="Figtree" pitchFamily="34" charset="-122"/>
                <a:cs typeface="Figtree" pitchFamily="34" charset="-120"/>
              </a:rPr>
              <a:t>Private data</a:t>
            </a:r>
            <a:endParaRPr lang="en-US" sz="1500" dirty="0">
              <a:latin typeface="Figtree" charset="0"/>
              <a:ea typeface="Figtree" charset="0"/>
              <a:cs typeface="Figtree" charset="0"/>
            </a:endParaRPr>
          </a:p>
        </p:txBody>
      </p:sp>
      <p:sp>
        <p:nvSpPr>
          <p:cNvPr id="15" name="Text 13"/>
          <p:cNvSpPr/>
          <p:nvPr/>
        </p:nvSpPr>
        <p:spPr>
          <a:xfrm>
            <a:off x="1020233" y="3903799"/>
            <a:ext cx="309583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Secrets stay in server/.env and are never committed. Messages are visible to admins only.</a:t>
            </a:r>
            <a:endParaRPr lang="en-US" sz="1200" dirty="0">
              <a:latin typeface="Figtree" charset="0"/>
              <a:ea typeface="Figtree" charset="0"/>
              <a:cs typeface="Figtree" charset="0"/>
            </a:endParaRPr>
          </a:p>
        </p:txBody>
      </p:sp>
      <p:sp>
        <p:nvSpPr>
          <p:cNvPr id="16" name="Shape 14"/>
          <p:cNvSpPr/>
          <p:nvPr/>
        </p:nvSpPr>
        <p:spPr>
          <a:xfrm>
            <a:off x="4388908" y="3369339"/>
            <a:ext cx="3414183" cy="1378678"/>
          </a:xfrm>
          <a:prstGeom prst="roundRect">
            <a:avLst>
              <a:gd name="adj" fmla="val 8981"/>
            </a:avLst>
          </a:prstGeom>
          <a:solidFill>
            <a:srgbClr val="FBFDFC"/>
          </a:solidFill>
          <a:ln w="6350">
            <a:solidFill>
              <a:srgbClr val="CFE0DC"/>
            </a:solidFill>
            <a:prstDash val="solid"/>
          </a:ln>
        </p:spPr>
      </p:sp>
      <p:sp>
        <p:nvSpPr>
          <p:cNvPr id="17" name="Text 15"/>
          <p:cNvSpPr/>
          <p:nvPr/>
        </p:nvSpPr>
        <p:spPr>
          <a:xfrm>
            <a:off x="4593167" y="3573599"/>
            <a:ext cx="30958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A2350"/>
                </a:solidFill>
                <a:latin typeface="Figtree" pitchFamily="34" charset="0"/>
                <a:ea typeface="Figtree" pitchFamily="34" charset="-122"/>
                <a:cs typeface="Figtree" pitchFamily="34" charset="-120"/>
              </a:rPr>
              <a:t>Honest content</a:t>
            </a:r>
            <a:endParaRPr lang="en-US" sz="1500" dirty="0">
              <a:latin typeface="Figtree" charset="0"/>
              <a:ea typeface="Figtree" charset="0"/>
              <a:cs typeface="Figtree" charset="0"/>
            </a:endParaRPr>
          </a:p>
        </p:txBody>
      </p:sp>
      <p:sp>
        <p:nvSpPr>
          <p:cNvPr id="18" name="Text 16"/>
          <p:cNvSpPr/>
          <p:nvPr/>
        </p:nvSpPr>
        <p:spPr>
          <a:xfrm>
            <a:off x="4593167" y="3903799"/>
            <a:ext cx="30958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Only clinic-verified details are shown. Unknown items stay as clear placeholders.</a:t>
            </a:r>
            <a:endParaRPr lang="en-US" sz="1200" dirty="0">
              <a:latin typeface="Figtree" charset="0"/>
              <a:ea typeface="Figtree" charset="0"/>
              <a:cs typeface="Figtree" charset="0"/>
            </a:endParaRPr>
          </a:p>
        </p:txBody>
      </p:sp>
      <p:sp>
        <p:nvSpPr>
          <p:cNvPr id="19" name="Shape 17"/>
          <p:cNvSpPr/>
          <p:nvPr/>
        </p:nvSpPr>
        <p:spPr>
          <a:xfrm>
            <a:off x="7961842" y="3369339"/>
            <a:ext cx="3414183" cy="1378678"/>
          </a:xfrm>
          <a:prstGeom prst="roundRect">
            <a:avLst>
              <a:gd name="adj" fmla="val 8981"/>
            </a:avLst>
          </a:prstGeom>
          <a:solidFill>
            <a:srgbClr val="FBFDFC"/>
          </a:solidFill>
          <a:ln w="6350">
            <a:solidFill>
              <a:srgbClr val="CFE0DC"/>
            </a:solidFill>
            <a:prstDash val="solid"/>
          </a:ln>
        </p:spPr>
      </p:sp>
      <p:sp>
        <p:nvSpPr>
          <p:cNvPr id="20" name="Text 18"/>
          <p:cNvSpPr/>
          <p:nvPr/>
        </p:nvSpPr>
        <p:spPr>
          <a:xfrm>
            <a:off x="8166100" y="3573599"/>
            <a:ext cx="30958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A2350"/>
                </a:solidFill>
                <a:latin typeface="Figtree" pitchFamily="34" charset="0"/>
                <a:ea typeface="Figtree" pitchFamily="34" charset="-122"/>
                <a:cs typeface="Figtree" pitchFamily="34" charset="-120"/>
              </a:rPr>
              <a:t>Safety first</a:t>
            </a:r>
            <a:endParaRPr lang="en-US" sz="1500" dirty="0">
              <a:latin typeface="Figtree" charset="0"/>
              <a:ea typeface="Figtree" charset="0"/>
              <a:cs typeface="Figtree" charset="0"/>
            </a:endParaRPr>
          </a:p>
        </p:txBody>
      </p:sp>
      <p:sp>
        <p:nvSpPr>
          <p:cNvPr id="21" name="Text 19"/>
          <p:cNvSpPr/>
          <p:nvPr/>
        </p:nvSpPr>
        <p:spPr>
          <a:xfrm>
            <a:off x="8166100" y="3903799"/>
            <a:ext cx="30958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The assistant gives emergency advice for urgent symptoms and never diagnoses.</a:t>
            </a:r>
            <a:endParaRPr lang="en-US" sz="1200" dirty="0">
              <a:latin typeface="Figtree" charset="0"/>
              <a:ea typeface="Figtree" charset="0"/>
              <a:cs typeface="Figtree" charset="0"/>
            </a:endParaRPr>
          </a:p>
        </p:txBody>
      </p:sp>
      <p:sp>
        <p:nvSpPr>
          <p:cNvPr id="22" name="Text 2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Nexmove · Team B</a:t>
            </a:r>
            <a:endParaRPr lang="en-US" sz="1200" dirty="0">
              <a:latin typeface="Figtree" charset="0"/>
              <a:ea typeface="Figtree" charset="0"/>
              <a:cs typeface="Figtree" charset="0"/>
            </a:endParaRPr>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85F"/>
                </a:solidFill>
                <a:latin typeface="Figtree" pitchFamily="34" charset="0"/>
                <a:ea typeface="Figtree" pitchFamily="34" charset="-122"/>
                <a:cs typeface="Figtree" pitchFamily="34" charset="-120"/>
              </a:rPr>
              <a:t>09</a:t>
            </a:r>
            <a:endParaRPr lang="en-US" sz="1200" dirty="0">
              <a:latin typeface="Figtree" charset="0"/>
              <a:ea typeface="Figtree" charset="0"/>
              <a:cs typeface="Figtree"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6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B74"/>
                </a:solidFill>
                <a:latin typeface="Figtree" pitchFamily="34" charset="0"/>
                <a:ea typeface="Figtree" pitchFamily="34" charset="-122"/>
                <a:cs typeface="Figtree" pitchFamily="34" charset="-120"/>
              </a:rPr>
              <a:t>STATUS</a:t>
            </a:r>
            <a:endParaRPr lang="en-US" sz="1200" dirty="0">
              <a:latin typeface="Figtree" charset="0"/>
              <a:ea typeface="Figtree" charset="0"/>
              <a:cs typeface="Figtree" charset="0"/>
            </a:endParaRPr>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A2350"/>
                </a:solidFill>
                <a:latin typeface="Instrument Serif" pitchFamily="18" charset="0"/>
                <a:ea typeface="Instrument Serif" pitchFamily="18" charset="-122"/>
                <a:cs typeface="Instrument Serif" pitchFamily="18" charset="-120"/>
              </a:rPr>
              <a:t>Where the project stands</a:t>
            </a:r>
            <a:endParaRPr lang="en-US" sz="3200" dirty="0">
              <a:latin typeface="Instrument Serif" charset="0"/>
              <a:ea typeface="Instrument Serif" charset="0"/>
              <a:cs typeface="Instrument Serif" charset="0"/>
            </a:endParaRPr>
          </a:p>
        </p:txBody>
      </p:sp>
      <p:sp>
        <p:nvSpPr>
          <p:cNvPr id="4" name="Shape 2"/>
          <p:cNvSpPr/>
          <p:nvPr/>
        </p:nvSpPr>
        <p:spPr>
          <a:xfrm>
            <a:off x="815975" y="1831913"/>
            <a:ext cx="3380317" cy="2465917"/>
          </a:xfrm>
          <a:prstGeom prst="roundRect">
            <a:avLst>
              <a:gd name="adj" fmla="val 5021"/>
            </a:avLst>
          </a:prstGeom>
          <a:solidFill>
            <a:srgbClr val="FBFDFC"/>
          </a:solidFill>
          <a:ln w="6350">
            <a:solidFill>
              <a:srgbClr val="D3E1DE"/>
            </a:solidFill>
            <a:prstDash val="solid"/>
          </a:ln>
        </p:spPr>
      </p:sp>
      <p:pic>
        <p:nvPicPr>
          <p:cNvPr id="5" name="Image 0" descr="CheckCircle">    </p:cNvPr>
          <p:cNvPicPr>
            <a:picLocks noChangeAspect="1"/>
          </p:cNvPicPr>
          <p:nvPr/>
        </p:nvPicPr>
        <p:blipFill>
          <a:blip r:embed="rId1"/>
          <a:srcRect l="0" r="0" t="0" b="0"/>
          <a:stretch/>
        </p:blipFill>
        <p:spPr>
          <a:xfrm>
            <a:off x="1045633" y="2086967"/>
            <a:ext cx="254000" cy="254000"/>
          </a:xfrm>
          <a:prstGeom prst="rect">
            <a:avLst/>
          </a:prstGeom>
        </p:spPr>
      </p:pic>
      <p:sp>
        <p:nvSpPr>
          <p:cNvPr id="6" name="Text 3"/>
          <p:cNvSpPr/>
          <p:nvPr/>
        </p:nvSpPr>
        <p:spPr>
          <a:xfrm>
            <a:off x="1388533" y="2061567"/>
            <a:ext cx="498078"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0A2350"/>
                </a:solidFill>
                <a:latin typeface="Instrument Serif" pitchFamily="18" charset="0"/>
                <a:ea typeface="Instrument Serif" pitchFamily="18" charset="-122"/>
                <a:cs typeface="Instrument Serif" pitchFamily="18" charset="-120"/>
              </a:rPr>
              <a:t>Built</a:t>
            </a:r>
            <a:endParaRPr lang="en-US" sz="2000" dirty="0">
              <a:latin typeface="Instrument Serif" charset="0"/>
              <a:ea typeface="Instrument Serif" charset="0"/>
              <a:cs typeface="Instrument Serif" charset="0"/>
            </a:endParaRPr>
          </a:p>
        </p:txBody>
      </p:sp>
      <p:sp>
        <p:nvSpPr>
          <p:cNvPr id="7" name="Text 4"/>
          <p:cNvSpPr/>
          <p:nvPr/>
        </p:nvSpPr>
        <p:spPr>
          <a:xfrm>
            <a:off x="1150789" y="2467967"/>
            <a:ext cx="2895854" cy="1625600"/>
          </a:xfrm>
          <a:prstGeom prst="rect">
            <a:avLst/>
          </a:prstGeom>
          <a:noFill/>
          <a:ln/>
        </p:spPr>
        <p:txBody>
          <a:bodyPr wrap="square" lIns="0" tIns="0" rIns="0" bIns="0" rtlCol="0" anchor="t">
            <a:normAutofit/>
          </a:bodyPr>
          <a:lstStyle/>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Public website pages</a:t>
            </a:r>
            <a:endParaRPr lang="en-US" sz="1200" dirty="0">
              <a:latin typeface="Figtree" charset="0"/>
              <a:ea typeface="Figtree" charset="0"/>
              <a:cs typeface="Figtree" charset="0"/>
            </a:endParaRPr>
          </a:p>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Booking with live slots and double-booking protection</a:t>
            </a:r>
            <a:endParaRPr lang="en-US" sz="1200" dirty="0">
              <a:latin typeface="Figtree" charset="0"/>
              <a:ea typeface="Figtree" charset="0"/>
              <a:cs typeface="Figtree" charset="0"/>
            </a:endParaRPr>
          </a:p>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Accounts and the patient portal</a:t>
            </a:r>
            <a:endParaRPr lang="en-US" sz="1200" dirty="0">
              <a:latin typeface="Figtree" charset="0"/>
              <a:ea typeface="Figtree" charset="0"/>
              <a:cs typeface="Figtree" charset="0"/>
            </a:endParaRPr>
          </a:p>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Contact messages and the admin inbox</a:t>
            </a:r>
            <a:endParaRPr lang="en-US" sz="1200" dirty="0">
              <a:latin typeface="Figtree" charset="0"/>
              <a:ea typeface="Figtree" charset="0"/>
              <a:cs typeface="Figtree" charset="0"/>
            </a:endParaRPr>
          </a:p>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The AI assistant</a:t>
            </a:r>
            <a:endParaRPr lang="en-US" sz="1200" dirty="0">
              <a:latin typeface="Figtree" charset="0"/>
              <a:ea typeface="Figtree" charset="0"/>
              <a:cs typeface="Figtree" charset="0"/>
            </a:endParaRPr>
          </a:p>
        </p:txBody>
      </p:sp>
      <p:sp>
        <p:nvSpPr>
          <p:cNvPr id="8" name="Shape 5"/>
          <p:cNvSpPr/>
          <p:nvPr/>
        </p:nvSpPr>
        <p:spPr>
          <a:xfrm>
            <a:off x="4405842" y="1831913"/>
            <a:ext cx="3380317" cy="2465917"/>
          </a:xfrm>
          <a:prstGeom prst="roundRect">
            <a:avLst>
              <a:gd name="adj" fmla="val 5021"/>
            </a:avLst>
          </a:prstGeom>
          <a:solidFill>
            <a:srgbClr val="FBFDFC"/>
          </a:solidFill>
          <a:ln w="6350">
            <a:solidFill>
              <a:srgbClr val="D3E1DE"/>
            </a:solidFill>
            <a:prstDash val="solid"/>
          </a:ln>
        </p:spPr>
      </p:sp>
      <p:pic>
        <p:nvPicPr>
          <p:cNvPr id="9" name="Image 1" descr="Clock">    </p:cNvPr>
          <p:cNvPicPr>
            <a:picLocks noChangeAspect="1"/>
          </p:cNvPicPr>
          <p:nvPr/>
        </p:nvPicPr>
        <p:blipFill>
          <a:blip r:embed="rId2"/>
          <a:srcRect l="0" r="0" t="0" b="0"/>
          <a:stretch/>
        </p:blipFill>
        <p:spPr>
          <a:xfrm>
            <a:off x="4635500" y="2086967"/>
            <a:ext cx="254000" cy="254000"/>
          </a:xfrm>
          <a:prstGeom prst="rect">
            <a:avLst/>
          </a:prstGeom>
        </p:spPr>
      </p:pic>
      <p:sp>
        <p:nvSpPr>
          <p:cNvPr id="10" name="Text 6"/>
          <p:cNvSpPr/>
          <p:nvPr/>
        </p:nvSpPr>
        <p:spPr>
          <a:xfrm>
            <a:off x="4978400" y="2061567"/>
            <a:ext cx="1143000"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0A2350"/>
                </a:solidFill>
                <a:latin typeface="Instrument Serif" pitchFamily="18" charset="0"/>
                <a:ea typeface="Instrument Serif" pitchFamily="18" charset="-122"/>
                <a:cs typeface="Instrument Serif" pitchFamily="18" charset="-120"/>
              </a:rPr>
              <a:t>In progress</a:t>
            </a:r>
            <a:endParaRPr lang="en-US" sz="2000" dirty="0">
              <a:latin typeface="Instrument Serif" charset="0"/>
              <a:ea typeface="Instrument Serif" charset="0"/>
              <a:cs typeface="Instrument Serif" charset="0"/>
            </a:endParaRPr>
          </a:p>
        </p:txBody>
      </p:sp>
      <p:sp>
        <p:nvSpPr>
          <p:cNvPr id="11" name="Text 7"/>
          <p:cNvSpPr/>
          <p:nvPr/>
        </p:nvSpPr>
        <p:spPr>
          <a:xfrm>
            <a:off x="4740656" y="2467967"/>
            <a:ext cx="2895854" cy="1397000"/>
          </a:xfrm>
          <a:prstGeom prst="rect">
            <a:avLst/>
          </a:prstGeom>
          <a:noFill/>
          <a:ln/>
        </p:spPr>
        <p:txBody>
          <a:bodyPr wrap="square" lIns="0" tIns="0" rIns="0" bIns="0" rtlCol="0" anchor="t">
            <a:normAutofit/>
          </a:bodyPr>
          <a:lstStyle/>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Admin screens for appointments, services, therapists and reviews</a:t>
            </a:r>
            <a:endParaRPr lang="en-US" sz="1200" dirty="0">
              <a:latin typeface="Figtree" charset="0"/>
              <a:ea typeface="Figtree" charset="0"/>
              <a:cs typeface="Figtree" charset="0"/>
            </a:endParaRPr>
          </a:p>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Saving pain assessments to the database</a:t>
            </a:r>
            <a:endParaRPr lang="en-US" sz="1200" dirty="0">
              <a:latin typeface="Figtree" charset="0"/>
              <a:ea typeface="Figtree" charset="0"/>
              <a:cs typeface="Figtree" charset="0"/>
            </a:endParaRPr>
          </a:p>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The therapist portal</a:t>
            </a:r>
            <a:endParaRPr lang="en-US" sz="1200" dirty="0">
              <a:latin typeface="Figtree" charset="0"/>
              <a:ea typeface="Figtree" charset="0"/>
              <a:cs typeface="Figtree" charset="0"/>
            </a:endParaRPr>
          </a:p>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Rescheduling appointments</a:t>
            </a:r>
            <a:endParaRPr lang="en-US" sz="1200" dirty="0">
              <a:latin typeface="Figtree" charset="0"/>
              <a:ea typeface="Figtree" charset="0"/>
              <a:cs typeface="Figtree" charset="0"/>
            </a:endParaRPr>
          </a:p>
        </p:txBody>
      </p:sp>
      <p:sp>
        <p:nvSpPr>
          <p:cNvPr id="12" name="Shape 8"/>
          <p:cNvSpPr/>
          <p:nvPr/>
        </p:nvSpPr>
        <p:spPr>
          <a:xfrm>
            <a:off x="7995709" y="1831913"/>
            <a:ext cx="3380317" cy="2465917"/>
          </a:xfrm>
          <a:prstGeom prst="roundRect">
            <a:avLst>
              <a:gd name="adj" fmla="val 5021"/>
            </a:avLst>
          </a:prstGeom>
          <a:solidFill>
            <a:srgbClr val="FBFDFC"/>
          </a:solidFill>
          <a:ln w="6350">
            <a:solidFill>
              <a:srgbClr val="D3E1DE"/>
            </a:solidFill>
            <a:prstDash val="solid"/>
          </a:ln>
        </p:spPr>
      </p:sp>
      <p:pic>
        <p:nvPicPr>
          <p:cNvPr id="13" name="Image 2" descr="Warning">    </p:cNvPr>
          <p:cNvPicPr>
            <a:picLocks noChangeAspect="1"/>
          </p:cNvPicPr>
          <p:nvPr/>
        </p:nvPicPr>
        <p:blipFill>
          <a:blip r:embed="rId3"/>
          <a:srcRect l="0" r="0" t="0" b="0"/>
          <a:stretch/>
        </p:blipFill>
        <p:spPr>
          <a:xfrm>
            <a:off x="8225367" y="2086967"/>
            <a:ext cx="254000" cy="254000"/>
          </a:xfrm>
          <a:prstGeom prst="rect">
            <a:avLst/>
          </a:prstGeom>
        </p:spPr>
      </p:pic>
      <p:sp>
        <p:nvSpPr>
          <p:cNvPr id="14" name="Text 9"/>
          <p:cNvSpPr/>
          <p:nvPr/>
        </p:nvSpPr>
        <p:spPr>
          <a:xfrm>
            <a:off x="8568267" y="2061567"/>
            <a:ext cx="1611551"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0A2350"/>
                </a:solidFill>
                <a:latin typeface="Instrument Serif" pitchFamily="18" charset="0"/>
                <a:ea typeface="Instrument Serif" pitchFamily="18" charset="-122"/>
                <a:cs typeface="Instrument Serif" pitchFamily="18" charset="-120"/>
              </a:rPr>
              <a:t>Needs the client</a:t>
            </a:r>
            <a:endParaRPr lang="en-US" sz="2000" dirty="0">
              <a:latin typeface="Instrument Serif" charset="0"/>
              <a:ea typeface="Instrument Serif" charset="0"/>
              <a:cs typeface="Instrument Serif" charset="0"/>
            </a:endParaRPr>
          </a:p>
        </p:txBody>
      </p:sp>
      <p:sp>
        <p:nvSpPr>
          <p:cNvPr id="15" name="Text 10"/>
          <p:cNvSpPr/>
          <p:nvPr/>
        </p:nvSpPr>
        <p:spPr>
          <a:xfrm>
            <a:off x="8330523" y="2467967"/>
            <a:ext cx="2895854" cy="939800"/>
          </a:xfrm>
          <a:prstGeom prst="rect">
            <a:avLst/>
          </a:prstGeom>
          <a:noFill/>
          <a:ln/>
        </p:spPr>
        <p:txBody>
          <a:bodyPr wrap="square" lIns="0" tIns="0" rIns="0" bIns="0" rtlCol="0" anchor="t">
            <a:normAutofit/>
          </a:bodyPr>
          <a:lstStyle/>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Fees and package prices</a:t>
            </a:r>
            <a:endParaRPr lang="en-US" sz="1200" dirty="0">
              <a:latin typeface="Figtree" charset="0"/>
              <a:ea typeface="Figtree" charset="0"/>
              <a:cs typeface="Figtree" charset="0"/>
            </a:endParaRPr>
          </a:p>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Session lengths and weekly schedules</a:t>
            </a:r>
            <a:endParaRPr lang="en-US" sz="1200" dirty="0">
              <a:latin typeface="Figtree" charset="0"/>
              <a:ea typeface="Figtree" charset="0"/>
              <a:cs typeface="Figtree" charset="0"/>
            </a:endParaRPr>
          </a:p>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Official email address and days open</a:t>
            </a:r>
            <a:endParaRPr lang="en-US" sz="1200" dirty="0">
              <a:latin typeface="Figtree" charset="0"/>
              <a:ea typeface="Figtree" charset="0"/>
              <a:cs typeface="Figtree" charset="0"/>
            </a:endParaRPr>
          </a:p>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Approved photos and credentials</a:t>
            </a:r>
            <a:endParaRPr lang="en-US" sz="1200" dirty="0">
              <a:latin typeface="Figtree" charset="0"/>
              <a:ea typeface="Figtree" charset="0"/>
              <a:cs typeface="Figtree" charset="0"/>
            </a:endParaRPr>
          </a:p>
        </p:txBody>
      </p:sp>
      <p:sp>
        <p:nvSpPr>
          <p:cNvPr id="16" name="Text 1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Nexmove · Team B</a:t>
            </a:r>
            <a:endParaRPr lang="en-US" sz="1200" dirty="0">
              <a:latin typeface="Figtree" charset="0"/>
              <a:ea typeface="Figtree" charset="0"/>
              <a:cs typeface="Figtree" charset="0"/>
            </a:endParaRPr>
          </a:p>
        </p:txBody>
      </p:sp>
      <p:sp>
        <p:nvSpPr>
          <p:cNvPr id="17"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85F"/>
                </a:solidFill>
                <a:latin typeface="Figtree" pitchFamily="34" charset="0"/>
                <a:ea typeface="Figtree" pitchFamily="34" charset="-122"/>
                <a:cs typeface="Figtree" pitchFamily="34" charset="-120"/>
              </a:rPr>
              <a:t>10</a:t>
            </a:r>
            <a:endParaRPr lang="en-US" sz="1200" dirty="0">
              <a:latin typeface="Figtree" charset="0"/>
              <a:ea typeface="Figtree" charset="0"/>
              <a:cs typeface="Figtree"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4F1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F6B74"/>
                </a:solidFill>
                <a:latin typeface="Figtree" pitchFamily="34" charset="0"/>
                <a:ea typeface="Figtree" pitchFamily="34" charset="-122"/>
                <a:cs typeface="Figtree" pitchFamily="34" charset="-120"/>
              </a:rPr>
              <a:t>TEAM B</a:t>
            </a:r>
            <a:endParaRPr lang="en-US" sz="1200" dirty="0">
              <a:latin typeface="Figtree" charset="0"/>
              <a:ea typeface="Figtree" charset="0"/>
              <a:cs typeface="Figtree" charset="0"/>
            </a:endParaRPr>
          </a:p>
        </p:txBody>
      </p:sp>
      <p:sp>
        <p:nvSpPr>
          <p:cNvPr id="3" name="Text 1"/>
          <p:cNvSpPr/>
          <p:nvPr>
            <p:ph type="title"/>
          </p:nvPr>
        </p:nvSpPr>
        <p:spPr>
          <a:xfrm>
            <a:off x="812800" y="1102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A2350"/>
                </a:solidFill>
                <a:latin typeface="Instrument Serif" pitchFamily="18" charset="0"/>
                <a:ea typeface="Instrument Serif" pitchFamily="18" charset="-122"/>
                <a:cs typeface="Instrument Serif" pitchFamily="18" charset="-120"/>
              </a:rPr>
              <a:t>Who built what</a:t>
            </a:r>
            <a:endParaRPr lang="en-US" sz="3200" dirty="0">
              <a:latin typeface="Instrument Serif" charset="0"/>
              <a:ea typeface="Instrument Serif" charset="0"/>
              <a:cs typeface="Instrument Serif" charset="0"/>
            </a:endParaRPr>
          </a:p>
        </p:txBody>
      </p:sp>
      <p:sp>
        <p:nvSpPr>
          <p:cNvPr id="4" name="Shape 2"/>
          <p:cNvSpPr/>
          <p:nvPr/>
        </p:nvSpPr>
        <p:spPr>
          <a:xfrm>
            <a:off x="815975" y="1831913"/>
            <a:ext cx="3380317" cy="2107737"/>
          </a:xfrm>
          <a:prstGeom prst="roundRect">
            <a:avLst>
              <a:gd name="adj" fmla="val 5875"/>
            </a:avLst>
          </a:prstGeom>
          <a:solidFill>
            <a:srgbClr val="FBFDFC"/>
          </a:solidFill>
          <a:ln w="6350">
            <a:solidFill>
              <a:srgbClr val="CFE0DC"/>
            </a:solidFill>
            <a:prstDash val="solid"/>
          </a:ln>
        </p:spPr>
      </p:sp>
      <p:sp>
        <p:nvSpPr>
          <p:cNvPr id="5" name="Text 3"/>
          <p:cNvSpPr/>
          <p:nvPr/>
        </p:nvSpPr>
        <p:spPr>
          <a:xfrm>
            <a:off x="1071033" y="2086967"/>
            <a:ext cx="2956306"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0A2350"/>
                </a:solidFill>
                <a:latin typeface="Instrument Serif" pitchFamily="18" charset="0"/>
                <a:ea typeface="Instrument Serif" pitchFamily="18" charset="-122"/>
                <a:cs typeface="Instrument Serif" pitchFamily="18" charset="-120"/>
              </a:rPr>
              <a:t>Zohaib Khalid</a:t>
            </a:r>
            <a:endParaRPr lang="en-US" sz="2000" dirty="0">
              <a:latin typeface="Instrument Serif" charset="0"/>
              <a:ea typeface="Instrument Serif" charset="0"/>
              <a:cs typeface="Instrument Serif" charset="0"/>
            </a:endParaRPr>
          </a:p>
        </p:txBody>
      </p:sp>
      <p:sp>
        <p:nvSpPr>
          <p:cNvPr id="6" name="Text 4"/>
          <p:cNvSpPr/>
          <p:nvPr/>
        </p:nvSpPr>
        <p:spPr>
          <a:xfrm>
            <a:off x="1071033" y="2467967"/>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6B74"/>
                </a:solidFill>
                <a:latin typeface="Figtree" pitchFamily="34" charset="0"/>
                <a:ea typeface="Figtree" pitchFamily="34" charset="-122"/>
                <a:cs typeface="Figtree" pitchFamily="34" charset="-120"/>
              </a:rPr>
              <a:t>Public website and booking interface</a:t>
            </a:r>
            <a:endParaRPr lang="en-US" sz="1200" dirty="0">
              <a:latin typeface="Figtree" charset="0"/>
              <a:ea typeface="Figtree" charset="0"/>
              <a:cs typeface="Figtree" charset="0"/>
            </a:endParaRPr>
          </a:p>
        </p:txBody>
      </p:sp>
      <p:sp>
        <p:nvSpPr>
          <p:cNvPr id="7" name="Text 5"/>
          <p:cNvSpPr/>
          <p:nvPr/>
        </p:nvSpPr>
        <p:spPr>
          <a:xfrm>
            <a:off x="1176189" y="2770188"/>
            <a:ext cx="2843530" cy="939800"/>
          </a:xfrm>
          <a:prstGeom prst="rect">
            <a:avLst/>
          </a:prstGeom>
          <a:noFill/>
          <a:ln/>
        </p:spPr>
        <p:txBody>
          <a:bodyPr wrap="square" lIns="0" tIns="0" rIns="0" bIns="0" rtlCol="0" anchor="t">
            <a:normAutofit/>
          </a:bodyPr>
          <a:lstStyle/>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Responsive public pages and shared UI</a:t>
            </a:r>
            <a:endParaRPr lang="en-US" sz="1200" dirty="0">
              <a:latin typeface="Figtree" charset="0"/>
              <a:ea typeface="Figtree" charset="0"/>
              <a:cs typeface="Figtree" charset="0"/>
            </a:endParaRPr>
          </a:p>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Booking page and API integration</a:t>
            </a:r>
            <a:endParaRPr lang="en-US" sz="1200" dirty="0">
              <a:latin typeface="Figtree" charset="0"/>
              <a:ea typeface="Figtree" charset="0"/>
              <a:cs typeface="Figtree" charset="0"/>
            </a:endParaRPr>
          </a:p>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Pakistan timezone and slot display</a:t>
            </a:r>
            <a:endParaRPr lang="en-US" sz="1200" dirty="0">
              <a:latin typeface="Figtree" charset="0"/>
              <a:ea typeface="Figtree" charset="0"/>
              <a:cs typeface="Figtree" charset="0"/>
            </a:endParaRPr>
          </a:p>
        </p:txBody>
      </p:sp>
      <p:sp>
        <p:nvSpPr>
          <p:cNvPr id="8" name="Shape 6"/>
          <p:cNvSpPr/>
          <p:nvPr/>
        </p:nvSpPr>
        <p:spPr>
          <a:xfrm>
            <a:off x="4405842" y="1831913"/>
            <a:ext cx="3380317" cy="2107737"/>
          </a:xfrm>
          <a:prstGeom prst="roundRect">
            <a:avLst>
              <a:gd name="adj" fmla="val 5875"/>
            </a:avLst>
          </a:prstGeom>
          <a:solidFill>
            <a:srgbClr val="FBFDFC"/>
          </a:solidFill>
          <a:ln w="6350">
            <a:solidFill>
              <a:srgbClr val="CFE0DC"/>
            </a:solidFill>
            <a:prstDash val="solid"/>
          </a:ln>
        </p:spPr>
      </p:sp>
      <p:sp>
        <p:nvSpPr>
          <p:cNvPr id="9" name="Text 7"/>
          <p:cNvSpPr/>
          <p:nvPr/>
        </p:nvSpPr>
        <p:spPr>
          <a:xfrm>
            <a:off x="4660900" y="2086967"/>
            <a:ext cx="2956306"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0A2350"/>
                </a:solidFill>
                <a:latin typeface="Instrument Serif" pitchFamily="18" charset="0"/>
                <a:ea typeface="Instrument Serif" pitchFamily="18" charset="-122"/>
                <a:cs typeface="Instrument Serif" pitchFamily="18" charset="-120"/>
              </a:rPr>
              <a:t>Amna Butt</a:t>
            </a:r>
            <a:endParaRPr lang="en-US" sz="2000" dirty="0">
              <a:latin typeface="Instrument Serif" charset="0"/>
              <a:ea typeface="Instrument Serif" charset="0"/>
              <a:cs typeface="Instrument Serif" charset="0"/>
            </a:endParaRPr>
          </a:p>
        </p:txBody>
      </p:sp>
      <p:sp>
        <p:nvSpPr>
          <p:cNvPr id="10" name="Text 8"/>
          <p:cNvSpPr/>
          <p:nvPr/>
        </p:nvSpPr>
        <p:spPr>
          <a:xfrm>
            <a:off x="4660900" y="2467967"/>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6B74"/>
                </a:solidFill>
                <a:latin typeface="Figtree" pitchFamily="34" charset="0"/>
                <a:ea typeface="Figtree" pitchFamily="34" charset="-122"/>
                <a:cs typeface="Figtree" pitchFamily="34" charset="-120"/>
              </a:rPr>
              <a:t>Team lead and admin area</a:t>
            </a:r>
            <a:endParaRPr lang="en-US" sz="1200" dirty="0">
              <a:latin typeface="Figtree" charset="0"/>
              <a:ea typeface="Figtree" charset="0"/>
              <a:cs typeface="Figtree" charset="0"/>
            </a:endParaRPr>
          </a:p>
        </p:txBody>
      </p:sp>
      <p:sp>
        <p:nvSpPr>
          <p:cNvPr id="11" name="Text 9"/>
          <p:cNvSpPr/>
          <p:nvPr/>
        </p:nvSpPr>
        <p:spPr>
          <a:xfrm>
            <a:off x="4766056" y="2770188"/>
            <a:ext cx="2843530" cy="939800"/>
          </a:xfrm>
          <a:prstGeom prst="rect">
            <a:avLst/>
          </a:prstGeom>
          <a:noFill/>
          <a:ln/>
        </p:spPr>
        <p:txBody>
          <a:bodyPr wrap="square" lIns="0" tIns="0" rIns="0" bIns="0" rtlCol="0" anchor="t">
            <a:normAutofit/>
          </a:bodyPr>
          <a:lstStyle/>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Team coordination and handover</a:t>
            </a:r>
            <a:endParaRPr lang="en-US" sz="1200" dirty="0">
              <a:latin typeface="Figtree" charset="0"/>
              <a:ea typeface="Figtree" charset="0"/>
              <a:cs typeface="Figtree" charset="0"/>
            </a:endParaRPr>
          </a:p>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Admin panel and management screens</a:t>
            </a:r>
            <a:endParaRPr lang="en-US" sz="1200" dirty="0">
              <a:latin typeface="Figtree" charset="0"/>
              <a:ea typeface="Figtree" charset="0"/>
              <a:cs typeface="Figtree" charset="0"/>
            </a:endParaRPr>
          </a:p>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Integration review and submission</a:t>
            </a:r>
            <a:endParaRPr lang="en-US" sz="1200" dirty="0">
              <a:latin typeface="Figtree" charset="0"/>
              <a:ea typeface="Figtree" charset="0"/>
              <a:cs typeface="Figtree" charset="0"/>
            </a:endParaRPr>
          </a:p>
        </p:txBody>
      </p:sp>
      <p:sp>
        <p:nvSpPr>
          <p:cNvPr id="12" name="Shape 10"/>
          <p:cNvSpPr/>
          <p:nvPr/>
        </p:nvSpPr>
        <p:spPr>
          <a:xfrm>
            <a:off x="7995709" y="1831913"/>
            <a:ext cx="3380317" cy="2107737"/>
          </a:xfrm>
          <a:prstGeom prst="roundRect">
            <a:avLst>
              <a:gd name="adj" fmla="val 5875"/>
            </a:avLst>
          </a:prstGeom>
          <a:solidFill>
            <a:srgbClr val="FBFDFC"/>
          </a:solidFill>
          <a:ln w="6350">
            <a:solidFill>
              <a:srgbClr val="CFE0DC"/>
            </a:solidFill>
            <a:prstDash val="solid"/>
          </a:ln>
        </p:spPr>
      </p:sp>
      <p:sp>
        <p:nvSpPr>
          <p:cNvPr id="13" name="Text 11"/>
          <p:cNvSpPr/>
          <p:nvPr/>
        </p:nvSpPr>
        <p:spPr>
          <a:xfrm>
            <a:off x="8250767" y="2086967"/>
            <a:ext cx="2956306" cy="3175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0A2350"/>
                </a:solidFill>
                <a:latin typeface="Instrument Serif" pitchFamily="18" charset="0"/>
                <a:ea typeface="Instrument Serif" pitchFamily="18" charset="-122"/>
                <a:cs typeface="Instrument Serif" pitchFamily="18" charset="-120"/>
              </a:rPr>
              <a:t>Hammad Raza</a:t>
            </a:r>
            <a:endParaRPr lang="en-US" sz="2000" dirty="0">
              <a:latin typeface="Instrument Serif" charset="0"/>
              <a:ea typeface="Instrument Serif" charset="0"/>
              <a:cs typeface="Instrument Serif" charset="0"/>
            </a:endParaRPr>
          </a:p>
        </p:txBody>
      </p:sp>
      <p:sp>
        <p:nvSpPr>
          <p:cNvPr id="14" name="Text 12"/>
          <p:cNvSpPr/>
          <p:nvPr/>
        </p:nvSpPr>
        <p:spPr>
          <a:xfrm>
            <a:off x="8250767" y="2467967"/>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6B74"/>
                </a:solidFill>
                <a:latin typeface="Figtree" pitchFamily="34" charset="0"/>
                <a:ea typeface="Figtree" pitchFamily="34" charset="-122"/>
                <a:cs typeface="Figtree" pitchFamily="34" charset="-120"/>
              </a:rPr>
              <a:t>Backend and booking engine</a:t>
            </a:r>
            <a:endParaRPr lang="en-US" sz="1200" dirty="0">
              <a:latin typeface="Figtree" charset="0"/>
              <a:ea typeface="Figtree" charset="0"/>
              <a:cs typeface="Figtree" charset="0"/>
            </a:endParaRPr>
          </a:p>
        </p:txBody>
      </p:sp>
      <p:sp>
        <p:nvSpPr>
          <p:cNvPr id="15" name="Text 13"/>
          <p:cNvSpPr/>
          <p:nvPr/>
        </p:nvSpPr>
        <p:spPr>
          <a:xfrm>
            <a:off x="8355923" y="2770188"/>
            <a:ext cx="2843530" cy="939800"/>
          </a:xfrm>
          <a:prstGeom prst="rect">
            <a:avLst/>
          </a:prstGeom>
          <a:noFill/>
          <a:ln/>
        </p:spPr>
        <p:txBody>
          <a:bodyPr wrap="square" lIns="0" tIns="0" rIns="0" bIns="0" rtlCol="0" anchor="t">
            <a:normAutofit/>
          </a:bodyPr>
          <a:lstStyle/>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Authentication and authorization</a:t>
            </a:r>
            <a:endParaRPr lang="en-US" sz="1200" dirty="0">
              <a:latin typeface="Figtree" charset="0"/>
              <a:ea typeface="Figtree" charset="0"/>
              <a:cs typeface="Figtree" charset="0"/>
            </a:endParaRPr>
          </a:p>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Appointment booking and validation</a:t>
            </a:r>
            <a:endParaRPr lang="en-US" sz="1200" dirty="0">
              <a:latin typeface="Figtree" charset="0"/>
              <a:ea typeface="Figtree" charset="0"/>
              <a:cs typeface="Figtree" charset="0"/>
            </a:endParaRPr>
          </a:p>
          <a:p>
            <a:pPr algn="l" marL="148844" indent="-148844">
              <a:lnSpc>
                <a:spcPts val="1800"/>
              </a:lnSpc>
              <a:buSzPct val="100000"/>
              <a:buChar char="•"/>
            </a:pPr>
            <a:r>
              <a:rPr lang="en-US" sz="1200" dirty="0">
                <a:solidFill>
                  <a:srgbClr val="46585F"/>
                </a:solidFill>
                <a:latin typeface="Figtree" pitchFamily="34" charset="0"/>
                <a:ea typeface="Figtree" pitchFamily="34" charset="-122"/>
                <a:cs typeface="Figtree" pitchFamily="34" charset="-120"/>
              </a:rPr>
              <a:t>Appointment and service management</a:t>
            </a:r>
            <a:endParaRPr lang="en-US" sz="1200" dirty="0">
              <a:latin typeface="Figtree" charset="0"/>
              <a:ea typeface="Figtree" charset="0"/>
              <a:cs typeface="Figtree" charset="0"/>
            </a:endParaRPr>
          </a:p>
        </p:txBody>
      </p:sp>
      <p:sp>
        <p:nvSpPr>
          <p:cNvPr id="16" name="Text 1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85F"/>
                </a:solidFill>
                <a:latin typeface="Figtree" pitchFamily="34" charset="0"/>
                <a:ea typeface="Figtree" pitchFamily="34" charset="-122"/>
                <a:cs typeface="Figtree" pitchFamily="34" charset="-120"/>
              </a:rPr>
              <a:t>Nexmove · Team B</a:t>
            </a:r>
            <a:endParaRPr lang="en-US" sz="1200" dirty="0">
              <a:latin typeface="Figtree" charset="0"/>
              <a:ea typeface="Figtree" charset="0"/>
              <a:cs typeface="Figtree" charset="0"/>
            </a:endParaRPr>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6585F"/>
                </a:solidFill>
                <a:latin typeface="Figtree" pitchFamily="34" charset="0"/>
                <a:ea typeface="Figtree" pitchFamily="34" charset="-122"/>
                <a:cs typeface="Figtree" pitchFamily="34" charset="-120"/>
              </a:rPr>
              <a:t>11</a:t>
            </a:r>
            <a:endParaRPr lang="en-US" sz="1200" dirty="0">
              <a:latin typeface="Figtree" charset="0"/>
              <a:ea typeface="Figtree" charset="0"/>
              <a:cs typeface="Figtree"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350"/>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7493000" y="1016000"/>
            <a:ext cx="3886200" cy="3886200"/>
          </a:xfrm>
          <a:prstGeom prst="rect">
            <a:avLst/>
          </a:prstGeom>
        </p:spPr>
      </p:pic>
      <p:pic>
        <p:nvPicPr>
          <p:cNvPr id="3" name="Image 1" descr="ellipse">    </p:cNvPr>
          <p:cNvPicPr>
            <a:picLocks noChangeAspect="1"/>
          </p:cNvPicPr>
          <p:nvPr/>
        </p:nvPicPr>
        <p:blipFill>
          <a:blip r:embed="rId2"/>
          <a:srcRect l="0" r="0" t="0" b="0"/>
          <a:stretch/>
        </p:blipFill>
        <p:spPr>
          <a:xfrm>
            <a:off x="8890000" y="3429000"/>
            <a:ext cx="1905000" cy="1905000"/>
          </a:xfrm>
          <a:prstGeom prst="rect">
            <a:avLst/>
          </a:prstGeom>
        </p:spPr>
      </p:pic>
      <p:sp>
        <p:nvSpPr>
          <p:cNvPr id="4" name="Text 0"/>
          <p:cNvSpPr/>
          <p:nvPr/>
        </p:nvSpPr>
        <p:spPr>
          <a:xfrm>
            <a:off x="812800" y="25171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B8A7"/>
                </a:solidFill>
                <a:latin typeface="Figtree" pitchFamily="34" charset="0"/>
                <a:ea typeface="Figtree" pitchFamily="34" charset="-122"/>
                <a:cs typeface="Figtree" pitchFamily="34" charset="-120"/>
              </a:rPr>
              <a:t>NEXMOVE PHYSIOTHERAPY CLINIC · TEAM B</a:t>
            </a:r>
            <a:endParaRPr lang="en-US" sz="1200" dirty="0">
              <a:latin typeface="Figtree" charset="0"/>
              <a:ea typeface="Figtree" charset="0"/>
              <a:cs typeface="Figtree" charset="0"/>
            </a:endParaRPr>
          </a:p>
        </p:txBody>
      </p:sp>
      <p:sp>
        <p:nvSpPr>
          <p:cNvPr id="5" name="Text 1"/>
          <p:cNvSpPr/>
          <p:nvPr>
            <p:ph type="title"/>
          </p:nvPr>
        </p:nvSpPr>
        <p:spPr>
          <a:xfrm>
            <a:off x="812800" y="2933700"/>
            <a:ext cx="6540500" cy="695920"/>
          </a:xfrm>
          <a:prstGeom prst="rect">
            <a:avLst/>
          </a:prstGeom>
          <a:noFill/>
          <a:ln/>
        </p:spPr>
        <p:txBody>
          <a:bodyPr wrap="square" lIns="0" tIns="0" rIns="0" bIns="0" rtlCol="0" anchor="t">
            <a:normAutofit/>
          </a:bodyPr>
          <a:lstStyle/>
          <a:p>
            <a:pPr algn="l" indent="0" marL="0">
              <a:lnSpc>
                <a:spcPts val="5280"/>
              </a:lnSpc>
              <a:buNone/>
            </a:pPr>
            <a:r>
              <a:rPr lang="en-US" sz="4800" b="0" i="0" dirty="0">
                <a:solidFill>
                  <a:srgbClr val="F1F6F5"/>
                </a:solidFill>
                <a:latin typeface="Instrument Serif" pitchFamily="18" charset="0"/>
                <a:ea typeface="Instrument Serif" pitchFamily="18" charset="-122"/>
                <a:cs typeface="Instrument Serif" pitchFamily="18" charset="-120"/>
              </a:rPr>
              <a:t>Thank you. Questions?</a:t>
            </a:r>
            <a:endParaRPr lang="en-US" sz="4800" dirty="0">
              <a:latin typeface="Instrument Serif" charset="0"/>
              <a:ea typeface="Instrument Serif" charset="0"/>
              <a:cs typeface="Instrument Serif" charset="0"/>
            </a:endParaRPr>
          </a:p>
        </p:txBody>
      </p:sp>
      <p:sp>
        <p:nvSpPr>
          <p:cNvPr id="6" name="Text 2"/>
          <p:cNvSpPr/>
          <p:nvPr/>
        </p:nvSpPr>
        <p:spPr>
          <a:xfrm>
            <a:off x="812800" y="3807420"/>
            <a:ext cx="65405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FD8D5"/>
                </a:solidFill>
                <a:latin typeface="Figtree" pitchFamily="34" charset="0"/>
                <a:ea typeface="Figtree" pitchFamily="34" charset="-122"/>
                <a:cs typeface="Figtree" pitchFamily="34" charset="-120"/>
              </a:rPr>
              <a:t>Source code and documentation: github.com/amna-butt-code/codesaviours-ETraining-TeamB-Nexmove</a:t>
            </a:r>
            <a:endParaRPr lang="en-US" sz="1500" dirty="0">
              <a:latin typeface="Figtree" charset="0"/>
              <a:ea typeface="Figtree" charset="0"/>
              <a:cs typeface="Figtree" charset="0"/>
            </a:endParaRPr>
          </a:p>
        </p:txBody>
      </p:sp>
      <p:sp>
        <p:nvSpPr>
          <p:cNvPr id="7" name="Text 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2FB8A7"/>
                </a:solidFill>
                <a:latin typeface="Figtree" pitchFamily="34" charset="0"/>
                <a:ea typeface="Figtree" pitchFamily="34" charset="-122"/>
                <a:cs typeface="Figtree" pitchFamily="34" charset="-120"/>
              </a:rPr>
              <a:t>Your Next Move Starts Here</a:t>
            </a:r>
            <a:endParaRPr lang="en-US" sz="1200" dirty="0">
              <a:latin typeface="Figtree" charset="0"/>
              <a:ea typeface="Figtree" charset="0"/>
              <a:cs typeface="Figtree" charset="0"/>
            </a:endParaRPr>
          </a:p>
        </p:txBody>
      </p:sp>
    </p:spTree>
  </p:cSld>
  <p:clrMapOvr>
    <a:masterClrMapping/>
  </p:clrMapOvr>
</p:sld>
</file>

<file path=ppt/theme/theme1.xml><?xml version="1.0" encoding="utf-8"?>
<a:theme xmlns:a="http://schemas.openxmlformats.org/drawingml/2006/main" name="Nexmove Physiotherapy Clinic Website – Team B">
  <a:themeElements>
    <a:clrScheme name="Nexmove Physiotherapy Clinic Website – Team B">
      <a:dk1>
        <a:srgbClr val="0A2350"/>
      </a:dk1>
      <a:lt1>
        <a:srgbClr val="E4F1EF"/>
      </a:lt1>
      <a:dk2>
        <a:srgbClr val="415778"/>
      </a:dk2>
      <a:lt2>
        <a:srgbClr val="CEDCDF"/>
      </a:lt2>
      <a:accent1>
        <a:srgbClr val="0F6B74"/>
      </a:accent1>
      <a:accent2>
        <a:srgbClr val="2FB8A7"/>
      </a:accent2>
      <a:accent3>
        <a:srgbClr val="16848E"/>
      </a:accent3>
      <a:accent4>
        <a:srgbClr val="46585F"/>
      </a:accent4>
      <a:accent5>
        <a:srgbClr val="BFD8D5"/>
      </a:accent5>
      <a:accent6>
        <a:srgbClr val="10222B"/>
      </a:accent6>
      <a:hlink>
        <a:srgbClr val="0563C1"/>
      </a:hlink>
      <a:folHlink>
        <a:srgbClr val="954F72"/>
      </a:folHlink>
    </a:clrScheme>
    <a:fontScheme name="Nexmove Physiotherapy Clinic Website – Team B">
      <a:majorFont>
        <a:latin typeface="Instrument Serif"/>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Nexmove Physiotherapy Clinic Website – Team B</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Figtree
Copyright 2022 The Figtree Project Authors (https://github.com/erikdkennedy/figtree)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Instrument Serif
Copyright 2022 The Instrument Serif Project Authors (https://github.com/Instrument/instrument-serif)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2026-10-31T18:19:42Z</dcterms:created>
  <dcterms:modified xsi:type="dcterms:W3CDTF">2026-10-31T18:19:42Z</dcterms:modified>
</cp:coreProperties>
</file>